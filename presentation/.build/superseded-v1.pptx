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84d3deae8524d6f" /><Relationship Type="http://schemas.openxmlformats.org/officeDocument/2006/relationships/extended-properties" Target="/docProps/app.xml" Id="R14df5f57a8194392" /><Relationship Type="http://schemas.openxmlformats.org/officeDocument/2006/relationships/officeDocument" Target="/ppt/presentation.xml" Id="R72956be96c6b4179" /></Relationships>
</file>

<file path=ppt/presentation.xml><?xml version="1.0" encoding="utf-8"?>
<p:presentation xmlns:p="http://schemas.openxmlformats.org/presentationml/2006/main">
  <p:sldMasterIdLst>
    <p:sldMasterId xmlns:r="http://schemas.openxmlformats.org/officeDocument/2006/relationships" id="2147483648" r:id="R6455cc1136984f86"/>
  </p:sldMasterIdLst>
  <p:notesMasterIdLst>
    <p:notesMasterId xmlns:r="http://schemas.openxmlformats.org/officeDocument/2006/relationships" r:id="R0b88cb52cc2e443e"/>
  </p:notesMasterIdLst>
  <p:sldIdLst>
    <p:sldId xmlns:r="http://schemas.openxmlformats.org/officeDocument/2006/relationships" id="256" r:id="Rb43f404cf845420d"/>
    <p:sldId xmlns:r="http://schemas.openxmlformats.org/officeDocument/2006/relationships" id="257" r:id="R3d3d1ddb5e1840e2"/>
    <p:sldId xmlns:r="http://schemas.openxmlformats.org/officeDocument/2006/relationships" id="258" r:id="R4d7456df164248cf"/>
    <p:sldId xmlns:r="http://schemas.openxmlformats.org/officeDocument/2006/relationships" id="259" r:id="R2279ab27f4504357"/>
    <p:sldId xmlns:r="http://schemas.openxmlformats.org/officeDocument/2006/relationships" id="260" r:id="Rfbdf2f3d481b4b21"/>
    <p:sldId xmlns:r="http://schemas.openxmlformats.org/officeDocument/2006/relationships" id="261" r:id="R6e09c6485521478b"/>
    <p:sldId xmlns:r="http://schemas.openxmlformats.org/officeDocument/2006/relationships" id="262" r:id="R663f2b97e3f74d59"/>
    <p:sldId xmlns:r="http://schemas.openxmlformats.org/officeDocument/2006/relationships" id="263" r:id="R75551691eb4c4f72"/>
    <p:sldId xmlns:r="http://schemas.openxmlformats.org/officeDocument/2006/relationships" id="264" r:id="R7946590e28cc4bc2"/>
    <p:sldId xmlns:r="http://schemas.openxmlformats.org/officeDocument/2006/relationships" id="265" r:id="R8746ffb777f34ac8"/>
    <p:sldId xmlns:r="http://schemas.openxmlformats.org/officeDocument/2006/relationships" id="266" r:id="R8a78a75c820346b0"/>
    <p:sldId xmlns:r="http://schemas.openxmlformats.org/officeDocument/2006/relationships" id="267" r:id="Rdd3018ff9a5d404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7a383bb6f624fdb" /><Relationship Type="http://schemas.openxmlformats.org/officeDocument/2006/relationships/slideMaster" Target="/ppt/slideMasters/slideMaster1.xml" Id="R6455cc1136984f86" /><Relationship Type="http://schemas.openxmlformats.org/officeDocument/2006/relationships/notesMaster" Target="/ppt/notesMasters/notesMaster1.xml" Id="R0b88cb52cc2e443e" /><Relationship Type="http://schemas.openxmlformats.org/officeDocument/2006/relationships/presProps" Target="/ppt/presProps.xml" Id="Rb32178986e634063" /><Relationship Type="http://schemas.openxmlformats.org/officeDocument/2006/relationships/tableStyles" Target="/ppt/tableStyles.xml" Id="R6869f6d89ef04ee3" /><Relationship Type="http://schemas.openxmlformats.org/officeDocument/2006/relationships/slide" Target="/ppt/slides/slide1.xml" Id="Rb43f404cf845420d" /><Relationship Type="http://schemas.openxmlformats.org/officeDocument/2006/relationships/slide" Target="/ppt/slides/slide2.xml" Id="R3d3d1ddb5e1840e2" /><Relationship Type="http://schemas.openxmlformats.org/officeDocument/2006/relationships/slide" Target="/ppt/slides/slide3.xml" Id="R4d7456df164248cf" /><Relationship Type="http://schemas.openxmlformats.org/officeDocument/2006/relationships/slide" Target="/ppt/slides/slide4.xml" Id="R2279ab27f4504357" /><Relationship Type="http://schemas.openxmlformats.org/officeDocument/2006/relationships/slide" Target="/ppt/slides/slide5.xml" Id="Rfbdf2f3d481b4b21" /><Relationship Type="http://schemas.openxmlformats.org/officeDocument/2006/relationships/slide" Target="/ppt/slides/slide6.xml" Id="R6e09c6485521478b" /><Relationship Type="http://schemas.openxmlformats.org/officeDocument/2006/relationships/slide" Target="/ppt/slides/slide7.xml" Id="R663f2b97e3f74d59" /><Relationship Type="http://schemas.openxmlformats.org/officeDocument/2006/relationships/slide" Target="/ppt/slides/slide8.xml" Id="R75551691eb4c4f72" /><Relationship Type="http://schemas.openxmlformats.org/officeDocument/2006/relationships/slide" Target="/ppt/slides/slide9.xml" Id="R7946590e28cc4bc2" /><Relationship Type="http://schemas.openxmlformats.org/officeDocument/2006/relationships/slide" Target="/ppt/slides/slide10.xml" Id="R8746ffb777f34ac8" /><Relationship Type="http://schemas.openxmlformats.org/officeDocument/2006/relationships/slide" Target="/ppt/slides/slide11.xml" Id="R8a78a75c820346b0" /><Relationship Type="http://schemas.openxmlformats.org/officeDocument/2006/relationships/slide" Target="/ppt/slides/slide12.xml" Id="Rdd3018ff9a5d404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b0b66c27df2471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763320c4c74bd7" /><Relationship Type="http://schemas.openxmlformats.org/officeDocument/2006/relationships/notesMaster" Target="/ppt/notesMasters/notesMaster1.xml" Id="Rbebc9a70bf50426c" /></Relationships>
</file>

<file path=ppt/notesSlides/_rels/notesSlide2.xml.rels>&#65279;<?xml version="1.0" encoding="utf-8"?><Relationships xmlns="http://schemas.openxmlformats.org/package/2006/relationships"><Relationship Type="http://schemas.openxmlformats.org/officeDocument/2006/relationships/slide" Target="/ppt/slides/slide2.xml" Id="R500b614256764e82" /><Relationship Type="http://schemas.openxmlformats.org/officeDocument/2006/relationships/notesMaster" Target="/ppt/notesMasters/notesMaster1.xml" Id="Rdc1e811f08ef49ca" /></Relationships>
</file>

<file path=ppt/notesSlides/_rels/notesSlide3.xml.rels>&#65279;<?xml version="1.0" encoding="utf-8"?><Relationships xmlns="http://schemas.openxmlformats.org/package/2006/relationships"><Relationship Type="http://schemas.openxmlformats.org/officeDocument/2006/relationships/slide" Target="/ppt/slides/slide3.xml" Id="Rbc4581afb8fb4747" /><Relationship Type="http://schemas.openxmlformats.org/officeDocument/2006/relationships/notesMaster" Target="/ppt/notesMasters/notesMaster1.xml" Id="R1db13dd18c474a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ed007ecd27124262" /><Relationship Type="http://schemas.openxmlformats.org/officeDocument/2006/relationships/notesMaster" Target="/ppt/notesMasters/notesMaster1.xml" Id="Rfa5667e5703a48c6" /></Relationships>
</file>

<file path=ppt/notesSlides/_rels/notesSlide5.xml.rels>&#65279;<?xml version="1.0" encoding="utf-8"?><Relationships xmlns="http://schemas.openxmlformats.org/package/2006/relationships"><Relationship Type="http://schemas.openxmlformats.org/officeDocument/2006/relationships/slide" Target="/ppt/slides/slide5.xml" Id="R85005a350d9e4077" /><Relationship Type="http://schemas.openxmlformats.org/officeDocument/2006/relationships/notesMaster" Target="/ppt/notesMasters/notesMaster1.xml" Id="R05ca2e87a56841fc"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38cbe412eb447e" /><Relationship Type="http://schemas.openxmlformats.org/officeDocument/2006/relationships/notesMaster" Target="/ppt/notesMasters/notesMaster1.xml" Id="Re0e61e01d4314212" /></Relationships>
</file>

<file path=ppt/notesSlides/_rels/notesSlide7.xml.rels>&#65279;<?xml version="1.0" encoding="utf-8"?><Relationships xmlns="http://schemas.openxmlformats.org/package/2006/relationships"><Relationship Type="http://schemas.openxmlformats.org/officeDocument/2006/relationships/slide" Target="/ppt/slides/slide7.xml" Id="Rf62e9ab589eb4d4b" /><Relationship Type="http://schemas.openxmlformats.org/officeDocument/2006/relationships/notesMaster" Target="/ppt/notesMasters/notesMaster1.xml" Id="Rfa1dff9a23fc4296" /></Relationships>
</file>

<file path=ppt/notesSlides/_rels/notesSlide8.xml.rels>&#65279;<?xml version="1.0" encoding="utf-8"?><Relationships xmlns="http://schemas.openxmlformats.org/package/2006/relationships"><Relationship Type="http://schemas.openxmlformats.org/officeDocument/2006/relationships/slide" Target="/ppt/slides/slide8.xml" Id="Rdc58f61070b4451a" /><Relationship Type="http://schemas.openxmlformats.org/officeDocument/2006/relationships/notesMaster" Target="/ppt/notesMasters/notesMaster1.xml" Id="R1fac9c30ff024893" /></Relationships>
</file>

<file path=ppt/notesSlides/_rels/notesSlide9.xml.rels>&#65279;<?xml version="1.0" encoding="utf-8"?><Relationships xmlns="http://schemas.openxmlformats.org/package/2006/relationships"><Relationship Type="http://schemas.openxmlformats.org/officeDocument/2006/relationships/slide" Target="/ppt/slides/slide9.xml" Id="R82583b7592894d09" /><Relationship Type="http://schemas.openxmlformats.org/officeDocument/2006/relationships/notesMaster" Target="/ppt/notesMasters/notesMaster1.xml" Id="R033cbba1140e42a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6147e0f1d5a4251" /><Relationship Type="http://schemas.openxmlformats.org/officeDocument/2006/relationships/notesMaster" Target="/ppt/notesMasters/notesMaster1.xml" Id="R17ed50398faa44a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e89a583621e4d93" /><Relationship Type="http://schemas.openxmlformats.org/officeDocument/2006/relationships/notesMaster" Target="/ppt/notesMasters/notesMaster1.xml" Id="R736f2744ea8d4d1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7c075f848fc44cb" /><Relationship Type="http://schemas.openxmlformats.org/officeDocument/2006/relationships/notesMaster" Target="/ppt/notesMasters/notesMaster1.xml" Id="R3b52f8955f514b3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20 seconds</a:t>
            </a:r>
          </a:p>
          <a:p xmlns:a="http://schemas.openxmlformats.org/drawingml/2006/main">
            <a:r>
              <a:t/>
            </a:r>
          </a:p>
          <a:p xmlns:a="http://schemas.openxmlformats.org/drawingml/2006/main">
            <a:r>
              <a:t>I would like to propose ClassQuiz for our internal events. It is an existing open-source project, created by Mawoka and its contributors. I found it while looking for a tool that fits our need, and we made some small interface changes for our use.</a:t>
            </a:r>
          </a:p>
          <a:p xmlns:a="http://schemas.openxmlformats.org/drawingml/2006/main">
            <a:r>
              <a:t/>
            </a:r>
          </a:p>
          <a:p xmlns:a="http://schemas.openxmlformats.org/drawingml/2006/main">
            <a:r>
              <a:t>Sources and attribution</a:t>
            </a:r>
          </a:p>
          <a:p xmlns:a="http://schemas.openxmlformats.org/drawingml/2006/main">
            <a:r>
              <a:t>https://github.com/mawoka-myblock/ClassQuiz</a:t>
            </a:r>
          </a:p>
          <a:p xmlns:a="http://schemas.openxmlformats.org/drawingml/2006/main">
            <a:r>
              <a:t>https://github.com/mawoka-myblock/ClassQuiz/blob/711bdde7a7dcd2d217cfc75dbbbb2592a78582d3/README.md</a:t>
            </a:r>
          </a:p>
          <a:p xmlns:a="http://schemas.openxmlformats.org/drawingml/2006/main">
            <a:r>
              <a:t/>
            </a:r>
          </a:p>
          <a:p xmlns:a="http://schemas.openxmlformats.org/drawingml/2006/main">
            <a:r>
              <a:t>Code review scope: local checkout at 711bdde7a7dcd2d217cfc75dbbbb2592a78582d3, including existing local changes. Checked 29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35 seconds</a:t>
            </a:r>
          </a:p>
          <a:p xmlns:a="http://schemas.openxmlformats.org/drawingml/2006/main">
            <a:r>
              <a:t/>
            </a:r>
          </a:p>
          <a:p xmlns:a="http://schemas.openxmlformats.org/drawingml/2006/main">
            <a:r>
              <a:t>At events, a quiz gives people an easy way to participate. We do not have Kahoot available, and our current internal alternative has been unreliable. My contribution is finding an existing solution that appears to cover the need, then helping make it more suitable for us. We removed some promotional clutter. The underlying quiz platform and its features belong to the original project.</a:t>
            </a:r>
          </a:p>
          <a:p xmlns:a="http://schemas.openxmlformats.org/drawingml/2006/main">
            <a:r>
              <a:t/>
            </a:r>
          </a:p>
          <a:p xmlns:a="http://schemas.openxmlformats.org/drawingml/2006/main">
            <a:r>
              <a:t>Sources and attribution</a:t>
            </a:r>
          </a:p>
          <a:p xmlns:a="http://schemas.openxmlformats.org/drawingml/2006/main">
            <a:r>
              <a:t>Business need and contribution: presenter’s account in this conversation.</a:t>
            </a:r>
          </a:p>
          <a:p xmlns:a="http://schemas.openxmlformats.org/drawingml/2006/main">
            <a:r>
              <a:t>UI changes: local frontend/src/routes/+page.svelte and existing Git diff.</a:t>
            </a:r>
          </a:p>
          <a:p xmlns:a="http://schemas.openxmlformats.org/drawingml/2006/main">
            <a:r>
              <a:t>https://github.com/mawoka-myblock/ClassQuiz</a:t>
            </a:r>
          </a:p>
          <a:p xmlns:a="http://schemas.openxmlformats.org/drawingml/2006/main">
            <a:r>
              <a:t/>
            </a:r>
          </a:p>
          <a:p xmlns:a="http://schemas.openxmlformats.org/drawingml/2006/main">
            <a:r>
              <a:t>Code review scope: local checkout at 711bdde7a7dcd2d217cfc75dbbbb2592a78582d3, including existing local changes. Checked 29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50 seconds</a:t>
            </a:r>
          </a:p>
          <a:p xmlns:a="http://schemas.openxmlformats.org/drawingml/2006/main">
            <a:r>
              <a:t/>
            </a:r>
          </a:p>
          <a:p xmlns:a="http://schemas.openxmlformats.org/drawingml/2006/main">
            <a:r>
              <a:t>I already have a demonstration running at quiz.911bob.dev. The host prepares a quiz, participants join in a browser using a game PIN, and everyone sees the results. The current demo has no 2FA configured and no SMTP service or email verification. Those are demo choices. A company developer would configure the authentication and services we want for a corporate deployment. This original ClassQuiz screenshot shows the play experience, and I can demonstrate the running site.</a:t>
            </a:r>
          </a:p>
          <a:p xmlns:a="http://schemas.openxmlformats.org/drawingml/2006/main">
            <a:r>
              <a:t/>
            </a:r>
          </a:p>
          <a:p xmlns:a="http://schemas.openxmlformats.org/drawingml/2006/main">
            <a:r>
              <a:t>Details for questions</a:t>
            </a:r>
          </a:p>
          <a:p xmlns:a="http://schemas.openxmlformats.org/drawingml/2006/main">
            <a:r>
              <a:t>Optional demo: replace this explanation with a rehearsed 45–60 second demonstration. Have the quiz and host session ready before presenting. Keep this slide as the fallback. Do not claim large-event capacity or reliability from a short demo. Standard PIN-based participation is separate from host/account SSO. The presenter reports no 2FA configured in the demonstration. SMTP is absent and email verification is skipped in the local deployment configuration. Do not state that SMTP is required for 2FA: ClassQuiz includes authenticator-based TOTP, which does not use SMTP. The public demo is not a company deployment.</a:t>
            </a:r>
          </a:p>
          <a:p xmlns:a="http://schemas.openxmlformats.org/drawingml/2006/main">
            <a:r>
              <a:t/>
            </a:r>
          </a:p>
          <a:p xmlns:a="http://schemas.openxmlformats.org/drawingml/2006/main">
            <a:r>
              <a:t>Sources</a:t>
            </a:r>
          </a:p>
          <a:p xmlns:a="http://schemas.openxmlformats.org/drawingml/2006/main">
            <a:r>
              <a:t>https://github.com/mawoka-myblock/ClassQuiz/blob/711bdde7a7dcd2d217cfc75dbbbb2592a78582d3/README.md</a:t>
            </a:r>
          </a:p>
          <a:p xmlns:a="http://schemas.openxmlformats.org/drawingml/2006/main">
            <a:r>
              <a:t>https://github.com/mawoka-myblock/ClassQuiz/blob/711bdde7a7dcd2d217cfc75dbbbb2592a78582d3/frontend/src/lib/play/join.svelte</a:t>
            </a:r>
          </a:p>
          <a:p xmlns:a="http://schemas.openxmlformats.org/drawingml/2006/main">
            <a:r>
              <a:t>https://github.com/mawoka-myblock/ClassQuiz/blob/711bdde7a7dcd2d217cfc75dbbbb2592a78582d3/frontend/src/lib/assets/landing_new/select_org.webp</a:t>
            </a:r>
          </a:p>
          <a:p xmlns:a="http://schemas.openxmlformats.org/drawingml/2006/main">
            <a:r>
              <a:t>https://quiz.911bob.dev</a:t>
            </a:r>
          </a:p>
          <a:p xmlns:a="http://schemas.openxmlformats.org/drawingml/2006/main">
            <a:r>
              <a:t>https://github.com/mawoka-myblock/ClassQuiz/blob/711bdde7a7dcd2d217cfc75dbbbb2592a78582d3/classquiz/routers/users/twofa.py</a:t>
            </a:r>
          </a:p>
          <a:p xmlns:a="http://schemas.openxmlformats.org/drawingml/2006/main">
            <a:r>
              <a:t>Demo 2FA configuration: presenter’s statement. SMTP/email-verification configuration: local deploy/README.md and deploy/compose.yaml.</a:t>
            </a:r>
          </a:p>
          <a:p xmlns:a="http://schemas.openxmlformats.org/drawingml/2006/main">
            <a:r>
              <a:t/>
            </a:r>
          </a:p>
          <a:p xmlns:a="http://schemas.openxmlformats.org/drawingml/2006/main">
            <a:r>
              <a:t>Reviewed 29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40 seconds</a:t>
            </a:r>
          </a:p>
          <a:p xmlns:a="http://schemas.openxmlformats.org/drawingml/2006/main">
            <a:r>
              <a:t/>
            </a:r>
          </a:p>
          <a:p xmlns:a="http://schemas.openxmlformats.org/drawingml/2006/main">
            <a:r>
              <a:t>ClassQuiz uses the Mozilla Public License 2.0. Mozilla explicitly allows companies to use the software and make private modifications. For use inside the organization, those changes do not need public release. If we distribute covered software outside the organization, source-sharing and notice obligations apply. This makes internal deployment possible without buying a ClassQuiz software license, while infrastructure and maintenance still need resources.</a:t>
            </a:r>
          </a:p>
          <a:p xmlns:a="http://schemas.openxmlformats.org/drawingml/2006/main">
            <a:r>
              <a:t/>
            </a:r>
          </a:p>
          <a:p xmlns:a="http://schemas.openxmlformats.org/drawingml/2006/main">
            <a:r>
              <a:t>Detail for questions</a:t>
            </a:r>
          </a:p>
          <a:p xmlns:a="http://schemas.openxmlformats.org/drawingml/2006/main">
            <a:r>
              <a:t>MPL is file-level copyleft. New independent files are not automatically MPL-covered. Server execution alone is not distribution, but browser-delivered HTML, CSS and JavaScript count as delivered code. External guests or a publicly accessible deployment therefore need a distribution review. Ask the company’s open-source/legal process to confirm organizational boundaries, dependencies and any external rollout. MPL does not provide trademark rights or an enterprise support commitment. Removing promotional UI is permitted, but retain source license notices. This summarizes the cited terms, not a company legal approval.</a:t>
            </a:r>
          </a:p>
          <a:p xmlns:a="http://schemas.openxmlformats.org/drawingml/2006/main">
            <a:r>
              <a:t/>
            </a:r>
          </a:p>
          <a:p xmlns:a="http://schemas.openxmlformats.org/drawingml/2006/main">
            <a:r>
              <a:t>Sources and attribution</a:t>
            </a:r>
          </a:p>
          <a:p xmlns:a="http://schemas.openxmlformats.org/drawingml/2006/main">
            <a:r>
              <a:t>https://github.com/mawoka-myblock/ClassQuiz/blob/711bdde7a7dcd2d217cfc75dbbbb2592a78582d3/LICENSE</a:t>
            </a:r>
          </a:p>
          <a:p xmlns:a="http://schemas.openxmlformats.org/drawingml/2006/main">
            <a:r>
              <a:t>https://www.mozilla.org/en-US/MPL/2.0/</a:t>
            </a:r>
          </a:p>
          <a:p xmlns:a="http://schemas.openxmlformats.org/drawingml/2006/main">
            <a:r>
              <a:t>https://www.mozilla.org/en-US/MPL/2.0/FAQ/#using-and-distributing-software-under-the-license</a:t>
            </a:r>
          </a:p>
          <a:p xmlns:a="http://schemas.openxmlformats.org/drawingml/2006/main">
            <a:r>
              <a:t>https://www.mozilla.org/en-US/MPL/2.0/FAQ/#other-common-questions</a:t>
            </a:r>
          </a:p>
          <a:p xmlns:a="http://schemas.openxmlformats.org/drawingml/2006/main">
            <a:r>
              <a:t/>
            </a:r>
          </a:p>
          <a:p xmlns:a="http://schemas.openxmlformats.org/drawingml/2006/main">
            <a:r>
              <a:t>Code review scope: local checkout at 711bdde7a7dcd2d217cfc75dbbbb2592a78582d3, including existing local changes. Checked 29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45 seconds</a:t>
            </a:r>
          </a:p>
          <a:p xmlns:a="http://schemas.openxmlformats.org/drawingml/2006/main">
            <a:r>
              <a:t/>
            </a:r>
          </a:p>
          <a:p xmlns:a="http://schemas.openxmlformats.org/drawingml/2006/main">
            <a:r>
              <a:t>There is a useful foundation for company login. ClassQuiz has a configurable OpenID Connect integration, and Entra ID supports that standard for single sign-on. However, I would not describe this version as having ready-to-use Entra support. Its login code makes some assumptions about the identity data it receives. A developer needs to adapt those assumptions and test the flow with our tenant. IT would also register the application and decide who can access it.</a:t>
            </a:r>
          </a:p>
          <a:p xmlns:a="http://schemas.openxmlformats.org/drawingml/2006/main">
            <a:r>
              <a:t/>
            </a:r>
          </a:p>
          <a:p xmlns:a="http://schemas.openxmlformats.org/drawingml/2006/main">
            <a:r>
              <a:t>Detail for questions</a:t>
            </a:r>
          </a:p>
          <a:p xmlns:a="http://schemas.openxmlformats.org/drawingml/2006/main">
            <a:r>
              <a:t>Code inspection, not a tenant test: Userinfo.sub is a uuid.UUID and later uses .hex, whereas Microsoft documents sub as an opaque string. The model also requires email_verified, email and other fields, plus a refresh_token in the outer response. These are not all guaranteed by a default Entra OIDC response. Configure a tenant-specific app and validate stable identity mapping, missing claims, registration/account linking and sessions. Do not replace validation with blindly trusted email values. Entra SSO for quiz creators does not automatically restrict PIN-based participant access or every route. No internal Entra access was available for validation.</a:t>
            </a:r>
          </a:p>
          <a:p xmlns:a="http://schemas.openxmlformats.org/drawingml/2006/main">
            <a:r>
              <a:t/>
            </a:r>
          </a:p>
          <a:p xmlns:a="http://schemas.openxmlformats.org/drawingml/2006/main">
            <a:r>
              <a:t>Sources and attribution</a:t>
            </a:r>
          </a:p>
          <a:p xmlns:a="http://schemas.openxmlformats.org/drawingml/2006/main">
            <a:r>
              <a:t>https://classquiz.de/docs/self-host</a:t>
            </a:r>
          </a:p>
          <a:p xmlns:a="http://schemas.openxmlformats.org/drawingml/2006/main">
            <a:r>
              <a:t>https://github.com/mawoka-myblock/ClassQuiz/blob/711bdde7a7dcd2d217cfc75dbbbb2592a78582d3/classquiz/oauth/custom.py</a:t>
            </a:r>
          </a:p>
          <a:p xmlns:a="http://schemas.openxmlformats.org/drawingml/2006/main">
            <a:r>
              <a:t>https://github.com/mawoka-myblock/ClassQuiz/blob/711bdde7a7dcd2d217cfc75dbbbb2592a78582d3/classquiz/oauth/init_oauth.py</a:t>
            </a:r>
          </a:p>
          <a:p xmlns:a="http://schemas.openxmlformats.org/drawingml/2006/main">
            <a:r>
              <a:t>https://learn.microsoft.com/en-us/entra/identity-platform/v2-protocols-oidc</a:t>
            </a:r>
          </a:p>
          <a:p xmlns:a="http://schemas.openxmlformats.org/drawingml/2006/main">
            <a:r>
              <a:t>https://learn.microsoft.com/en-us/entra/identity-platform/id-token-claims-reference</a:t>
            </a:r>
          </a:p>
          <a:p xmlns:a="http://schemas.openxmlformats.org/drawingml/2006/main">
            <a:r>
              <a:t/>
            </a:r>
          </a:p>
          <a:p xmlns:a="http://schemas.openxmlformats.org/drawingml/2006/main">
            <a:r>
              <a:t>Code review scope: local checkout at 711bdde7a7dcd2d217cfc75dbbbb2592a78582d3, including existing local changes. Checked 29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35 seconds</a:t>
            </a:r>
          </a:p>
          <a:p xmlns:a="http://schemas.openxmlformats.org/drawingml/2006/main">
            <a:r>
              <a:t/>
            </a:r>
          </a:p>
          <a:p xmlns:a="http://schemas.openxmlformats.org/drawingml/2006/main">
            <a:r>
              <a:t>You can think of it as a website with a game engine behind it. SvelteKit builds the screens people use. Python and FastAPI run the application, with Socket.IO keeping the quiz live. Separate services store the quizzes, hold session state and support search. Docker Compose packages the services so IT can run them together on suitable company infrastructure. Participants only need a browser.</a:t>
            </a:r>
          </a:p>
          <a:p xmlns:a="http://schemas.openxmlformats.org/drawingml/2006/main">
            <a:r>
              <a:t/>
            </a:r>
          </a:p>
          <a:p xmlns:a="http://schemas.openxmlformats.org/drawingml/2006/main">
            <a:r>
              <a:t>Detail for questions</a:t>
            </a:r>
          </a:p>
          <a:p xmlns:a="http://schemas.openxmlformats.org/drawingml/2006/main">
            <a:r>
              <a:t>Repository evidence: frontend/package.json, Pipfile, classquiz code and docker-compose.yml. The current local deployment uses PostgreSQL, Valkey (Redis-compatible), Meilisearch, a background worker, SeaweedFS S3-compatible storage and an Nginx gateway. Upstream also supports local file storage and uses Caddy in its example stack. Do not imply that the prototype topology is the only supported corporate architecture, or that Docker makes production operations automatic.</a:t>
            </a:r>
          </a:p>
          <a:p xmlns:a="http://schemas.openxmlformats.org/drawingml/2006/main">
            <a:r>
              <a:t/>
            </a:r>
          </a:p>
          <a:p xmlns:a="http://schemas.openxmlformats.org/drawingml/2006/main">
            <a:r>
              <a:t>Sources and attribution</a:t>
            </a:r>
          </a:p>
          <a:p xmlns:a="http://schemas.openxmlformats.org/drawingml/2006/main">
            <a:r>
              <a:t>https://github.com/mawoka-myblock/ClassQuiz/blob/711bdde7a7dcd2d217cfc75dbbbb2592a78582d3/README.md</a:t>
            </a:r>
          </a:p>
          <a:p xmlns:a="http://schemas.openxmlformats.org/drawingml/2006/main">
            <a:r>
              <a:t>https://github.com/mawoka-myblock/ClassQuiz/blob/711bdde7a7dcd2d217cfc75dbbbb2592a78582d3/frontend/package.json</a:t>
            </a:r>
          </a:p>
          <a:p xmlns:a="http://schemas.openxmlformats.org/drawingml/2006/main">
            <a:r>
              <a:t>https://github.com/mawoka-myblock/ClassQuiz/blob/711bdde7a7dcd2d217cfc75dbbbb2592a78582d3/Pipfile</a:t>
            </a:r>
          </a:p>
          <a:p xmlns:a="http://schemas.openxmlformats.org/drawingml/2006/main">
            <a:r>
              <a:t>https://github.com/mawoka-myblock/ClassQuiz/blob/711bdde7a7dcd2d217cfc75dbbbb2592a78582d3/docker-compose.yml</a:t>
            </a:r>
          </a:p>
          <a:p xmlns:a="http://schemas.openxmlformats.org/drawingml/2006/main">
            <a:r>
              <a:t>Local deploy/compose.yaml (prototype-specific configuration).</a:t>
            </a:r>
          </a:p>
          <a:p xmlns:a="http://schemas.openxmlformats.org/drawingml/2006/main">
            <a:r>
              <a:t/>
            </a:r>
          </a:p>
          <a:p xmlns:a="http://schemas.openxmlformats.org/drawingml/2006/main">
            <a:r>
              <a:t>Code review scope: local checkout at 711bdde7a7dcd2d217cfc75dbbbb2592a78582d3, including existing local changes. Checked 29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40 seconds</a:t>
            </a:r>
          </a:p>
          <a:p xmlns:a="http://schemas.openxmlformats.org/drawingml/2006/main">
            <a:r>
              <a:t/>
            </a:r>
          </a:p>
          <a:p xmlns:a="http://schemas.openxmlformats.org/drawingml/2006/main">
            <a:r>
              <a:t>A magenta theme looks achievable. The frontend uses reusable Svelte components and shared CSS, so a developer can change the main backgrounds, navigation and buttons without rebuilding the quiz engine. It is more specific than editing a single HTML page: some colors are also set inside individual screens. A consistent result means checking the editor, host view and participant view, including dark mode. The answer colors should still help people distinguish choices and results.</a:t>
            </a:r>
          </a:p>
          <a:p xmlns:a="http://schemas.openxmlformats.org/drawingml/2006/main">
            <a:r>
              <a:t/>
            </a:r>
          </a:p>
          <a:p xmlns:a="http://schemas.openxmlformats.org/drawingml/2006/main">
            <a:r>
              <a:t>Detail for questions</a:t>
            </a:r>
          </a:p>
          <a:p xmlns:a="http://schemas.openxmlformats.org/drawingml/2006/main">
            <a:r>
              <a:t>Effort is an engineering assessment, not a time estimate or completed theme. Shared styles are in frontend/src/app.css, layout colors in frontend/src/routes/+layout.svelte, and shared components under frontend/src/lib. Direct utility classes and literal colors are scattered across components. The current Tailwind 4 setup uses CSS imports and utilities, so do not promise that editing the legacy tailwind.config.cjs alone will theme the app. Establish semantic brand styles, replace decorative hard-coded colors, then rebuild and review. The presentation uses a magenta-inspired design, not an official Deutsche Telekom template or an approved app rebrand.</a:t>
            </a:r>
          </a:p>
          <a:p xmlns:a="http://schemas.openxmlformats.org/drawingml/2006/main">
            <a:r>
              <a:t/>
            </a:r>
          </a:p>
          <a:p xmlns:a="http://schemas.openxmlformats.org/drawingml/2006/main">
            <a:r>
              <a:t>Sources and attribution</a:t>
            </a:r>
          </a:p>
          <a:p xmlns:a="http://schemas.openxmlformats.org/drawingml/2006/main">
            <a:r>
              <a:t>https://github.com/mawoka-myblock/ClassQuiz/blob/711bdde7a7dcd2d217cfc75dbbbb2592a78582d3/frontend/src/app.css</a:t>
            </a:r>
          </a:p>
          <a:p xmlns:a="http://schemas.openxmlformats.org/drawingml/2006/main">
            <a:r>
              <a:t>https://github.com/mawoka-myblock/ClassQuiz/blob/711bdde7a7dcd2d217cfc75dbbbb2592a78582d3/frontend/src/routes/+layout.svelte</a:t>
            </a:r>
          </a:p>
          <a:p xmlns:a="http://schemas.openxmlformats.org/drawingml/2006/main">
            <a:r>
              <a:t>https://github.com/mawoka-myblock/ClassQuiz/blob/711bdde7a7dcd2d217cfc75dbbbb2592a78582d3/frontend/package.json</a:t>
            </a:r>
          </a:p>
          <a:p xmlns:a="http://schemas.openxmlformats.org/drawingml/2006/main">
            <a:r>
              <a:t>https://github.com/mawoka-myblock/ClassQuiz/blob/711bdde7a7dcd2d217cfc75dbbbb2592a78582d3/frontend/src/lib/navbar.svelte</a:t>
            </a:r>
          </a:p>
          <a:p xmlns:a="http://schemas.openxmlformats.org/drawingml/2006/main">
            <a:r>
              <a:t>https://github.com/mawoka-myblock/ClassQuiz/blob/711bdde7a7dcd2d217cfc75dbbbb2592a78582d3/frontend/src/lib/assets/landing_new/edit_org.webp</a:t>
            </a:r>
          </a:p>
          <a:p xmlns:a="http://schemas.openxmlformats.org/drawingml/2006/main">
            <a:r>
              <a:t/>
            </a:r>
          </a:p>
          <a:p xmlns:a="http://schemas.openxmlformats.org/drawingml/2006/main">
            <a:r>
              <a:t>Code review scope: local checkout at 711bdde7a7dcd2d217cfc75dbbbb2592a78582d3, including existing local changes. Checked 29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40 seconds</a:t>
            </a:r>
          </a:p>
          <a:p xmlns:a="http://schemas.openxmlformats.org/drawingml/2006/main">
            <a:r>
              <a:t/>
            </a:r>
          </a:p>
          <a:p xmlns:a="http://schemas.openxmlformats.org/drawingml/2006/main">
            <a:r>
              <a:t>The demo is already available, but company deployment needs a developer or platform team with internal permissions. Beyond authentication and an S3 storage endpoint, they need hosting, DNS and HTTPS, the database and supporting services. They also need to manage secrets, backups, monitoring and updates. Email features would need SMTP. Before wider use, we should test the event size we expect, including reconnects and recovery, and name someone to support it.</a:t>
            </a:r>
          </a:p>
          <a:p xmlns:a="http://schemas.openxmlformats.org/drawingml/2006/main">
            <a:r>
              <a:t/>
            </a:r>
          </a:p>
          <a:p xmlns:a="http://schemas.openxmlformats.org/drawingml/2006/main">
            <a:r>
              <a:t>Details for questions</a:t>
            </a:r>
          </a:p>
          <a:p xmlns:a="http://schemas.openxmlformats.org/drawingml/2006/main">
            <a:r>
              <a:t>Docker Compose is a useful starting point. Production preparation remains a moderate integration and operations task, with effort depending on internal approvals and infrastructure. The local prototype notes do not configure external OAuth or scheduled backups. Do not imply company deployment, Entra testing or capacity testing has already happened. The public demo address is included at the presenter’s request. Credentials and private infrastructure details remain excluded. See the final appendix for the full deployment checklist.</a:t>
            </a:r>
          </a:p>
          <a:p xmlns:a="http://schemas.openxmlformats.org/drawingml/2006/main">
            <a:r>
              <a:t/>
            </a:r>
          </a:p>
          <a:p xmlns:a="http://schemas.openxmlformats.org/drawingml/2006/main">
            <a:r>
              <a:t>Sources</a:t>
            </a:r>
          </a:p>
          <a:p xmlns:a="http://schemas.openxmlformats.org/drawingml/2006/main">
            <a:r>
              <a:t>https://classquiz.de/docs/self-host</a:t>
            </a:r>
          </a:p>
          <a:p xmlns:a="http://schemas.openxmlformats.org/drawingml/2006/main">
            <a:r>
              <a:t>https://github.com/mawoka-myblock/ClassQuiz/blob/711bdde7a7dcd2d217cfc75dbbbb2592a78582d3/docker-compose.yml</a:t>
            </a:r>
          </a:p>
          <a:p xmlns:a="http://schemas.openxmlformats.org/drawingml/2006/main">
            <a:r>
              <a:t>Presenter’s access constraints in this conversation.</a:t>
            </a:r>
          </a:p>
          <a:p xmlns:a="http://schemas.openxmlformats.org/drawingml/2006/main">
            <a:r>
              <a:t>Local deploy/README.md and deploy/compose.yaml.</a:t>
            </a:r>
          </a:p>
          <a:p xmlns:a="http://schemas.openxmlformats.org/drawingml/2006/main">
            <a:r>
              <a:t/>
            </a:r>
          </a:p>
          <a:p xmlns:a="http://schemas.openxmlformats.org/drawingml/2006/main">
            <a:r>
              <a:t>Reviewed 29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25 seconds</a:t>
            </a:r>
          </a:p>
          <a:p xmlns:a="http://schemas.openxmlformats.org/drawingml/2006/main">
            <a:r>
              <a:t/>
            </a:r>
          </a:p>
          <a:p xmlns:a="http://schemas.openxmlformats.org/drawingml/2006/main">
            <a:r>
              <a:t>My proposal is one internal pilot with an IT partner. We can try a short quiz with a representative group, check whether hosting is practical and see how the tool behaves during the event. If the pilot meets our needs, we can decide whether to adopt it more broadly. The value is using an existing project to solve a company problem, with clear ownership for the work that remains.</a:t>
            </a:r>
          </a:p>
          <a:p xmlns:a="http://schemas.openxmlformats.org/drawingml/2006/main">
            <a:r>
              <a:t/>
            </a:r>
          </a:p>
          <a:p xmlns:a="http://schemas.openxmlformats.org/drawingml/2006/main">
            <a:r>
              <a:t>Sources and attribution</a:t>
            </a:r>
          </a:p>
          <a:p xmlns:a="http://schemas.openxmlformats.org/drawingml/2006/main">
            <a:r>
              <a:t>Proposed next step, not an approved plan.</a:t>
            </a:r>
          </a:p>
          <a:p xmlns:a="http://schemas.openxmlformats.org/drawingml/2006/main">
            <a:r>
              <a:t/>
            </a:r>
          </a:p>
          <a:p xmlns:a="http://schemas.openxmlformats.org/drawingml/2006/main">
            <a:r>
              <a:t>Code review scope: local checkout at 711bdde7a7dcd2d217cfc75dbbbb2592a78582d3, including existing local changes. Checked 29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only for questions. The integration path exists, but tenant compatibility has not been demonstrated.</a:t>
            </a:r>
          </a:p>
          <a:p xmlns:a="http://schemas.openxmlformats.org/drawingml/2006/main">
            <a:r>
              <a:t/>
            </a:r>
          </a:p>
          <a:p xmlns:a="http://schemas.openxmlformats.org/drawingml/2006/main">
            <a:r>
              <a:t>Detail for questions</a:t>
            </a:r>
          </a:p>
          <a:p xmlns:a="http://schemas.openxmlformats.org/drawingml/2006/main">
            <a:r>
              <a:t>Settings: CUSTOM_OPENID_PROVIDER__CLIENT_ID, CUSTOM_OPENID_PROVIDER__CLIENT_SECRET, CUSTOM_OPENID_PROVIDER__SERVER_METADATA_URL and CUSTOM_OPENID_PROVIDER__SCOPES. Default scopes: openid email profile. Frontend: VITE_CUSTOM_OAUTH_NAME. Callback: https://&lt;company-host&gt;/api/v1/users/oauth/custom/auth. A tenant-specific Microsoft v2 discovery URL is https://login.microsoftonline.com/&lt;tenant-id&gt;/v2.0/.well-known/openid-configuration. Current Python models require sub as uuid.UUID, email_verified and refresh_token. Microsoft documents sub as a string and email as not guaranteed. A standard response can fail validation. A developer must choose safe claim mapping and account lifecycle behavior. Do not assume automatic role provisioning, tenant restriction or single logout from generic OIDC support.</a:t>
            </a:r>
          </a:p>
          <a:p xmlns:a="http://schemas.openxmlformats.org/drawingml/2006/main">
            <a:r>
              <a:t/>
            </a:r>
          </a:p>
          <a:p xmlns:a="http://schemas.openxmlformats.org/drawingml/2006/main">
            <a:r>
              <a:t>Sources and attribution</a:t>
            </a:r>
          </a:p>
          <a:p xmlns:a="http://schemas.openxmlformats.org/drawingml/2006/main">
            <a:r>
              <a:t>https://classquiz.de/docs/self-host</a:t>
            </a:r>
          </a:p>
          <a:p xmlns:a="http://schemas.openxmlformats.org/drawingml/2006/main">
            <a:r>
              <a:t>https://github.com/mawoka-myblock/ClassQuiz/blob/711bdde7a7dcd2d217cfc75dbbbb2592a78582d3/classquiz/oauth/custom.py</a:t>
            </a:r>
          </a:p>
          <a:p xmlns:a="http://schemas.openxmlformats.org/drawingml/2006/main">
            <a:r>
              <a:t>https://github.com/mawoka-myblock/ClassQuiz/blob/711bdde7a7dcd2d217cfc75dbbbb2592a78582d3/classquiz/oauth/init_oauth.py</a:t>
            </a:r>
          </a:p>
          <a:p xmlns:a="http://schemas.openxmlformats.org/drawingml/2006/main">
            <a:r>
              <a:t>https://github.com/mawoka-myblock/ClassQuiz/blob/711bdde7a7dcd2d217cfc75dbbbb2592a78582d3/classquiz/config.py</a:t>
            </a:r>
          </a:p>
          <a:p xmlns:a="http://schemas.openxmlformats.org/drawingml/2006/main">
            <a:r>
              <a:t>https://learn.microsoft.com/en-us/entra/identity-platform/v2-protocols-oidc</a:t>
            </a:r>
          </a:p>
          <a:p xmlns:a="http://schemas.openxmlformats.org/drawingml/2006/main">
            <a:r>
              <a:t>https://learn.microsoft.com/en-us/entra/identity-platform/id-token-claims-reference</a:t>
            </a:r>
          </a:p>
          <a:p xmlns:a="http://schemas.openxmlformats.org/drawingml/2006/main">
            <a:r>
              <a:t/>
            </a:r>
          </a:p>
          <a:p xmlns:a="http://schemas.openxmlformats.org/drawingml/2006/main">
            <a:r>
              <a:t>Code review scope: local checkout at 711bdde7a7dcd2d217cfc75dbbbb2592a78582d3, including existing local changes. Checked 29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these answers if questions come up after the pitch.</a:t>
            </a:r>
          </a:p>
          <a:p xmlns:a="http://schemas.openxmlformats.org/drawingml/2006/main">
            <a:r>
              <a:t/>
            </a:r>
          </a:p>
          <a:p xmlns:a="http://schemas.openxmlformats.org/drawingml/2006/main">
            <a:r>
              <a:t>Detail for questions</a:t>
            </a:r>
          </a:p>
          <a:p xmlns:a="http://schemas.openxmlformats.org/drawingml/2006/main">
            <a:r>
              <a:t>License scope: keep source notices and track local patches. External browser-delivered assets count as distribution. Independent files need not automatically become MPL-licensed. Company legal/open-source review should cover relevant entities, dependencies and external access. No total deployment cost, developer-day estimate or tested player capacity is available. Source revision and existing local deployment changes are documented in the walkthrough.</a:t>
            </a:r>
          </a:p>
          <a:p xmlns:a="http://schemas.openxmlformats.org/drawingml/2006/main">
            <a:r>
              <a:t/>
            </a:r>
          </a:p>
          <a:p xmlns:a="http://schemas.openxmlformats.org/drawingml/2006/main">
            <a:r>
              <a:t>Sources and attribution</a:t>
            </a:r>
          </a:p>
          <a:p xmlns:a="http://schemas.openxmlformats.org/drawingml/2006/main">
            <a:r>
              <a:t>https://www.mozilla.org/en-US/MPL/2.0/</a:t>
            </a:r>
          </a:p>
          <a:p xmlns:a="http://schemas.openxmlformats.org/drawingml/2006/main">
            <a:r>
              <a:t>https://www.mozilla.org/en-US/MPL/2.0/FAQ/</a:t>
            </a:r>
          </a:p>
          <a:p xmlns:a="http://schemas.openxmlformats.org/drawingml/2006/main">
            <a:r>
              <a:t>https://github.com/mawoka-myblock/ClassQuiz/blob/711bdde7a7dcd2d217cfc75dbbbb2592a78582d3/frontend/src/app.css</a:t>
            </a:r>
          </a:p>
          <a:p xmlns:a="http://schemas.openxmlformats.org/drawingml/2006/main">
            <a:r>
              <a:t>https://github.com/mawoka-myblock/ClassQuiz/blob/711bdde7a7dcd2d217cfc75dbbbb2592a78582d3/frontend/src/routes/+layout.svelte</a:t>
            </a:r>
          </a:p>
          <a:p xmlns:a="http://schemas.openxmlformats.org/drawingml/2006/main">
            <a:r>
              <a:t>Reliability and effort statements are explicit limitations/assessments, not measured results.</a:t>
            </a:r>
          </a:p>
          <a:p xmlns:a="http://schemas.openxmlformats.org/drawingml/2006/main">
            <a:r>
              <a:t/>
            </a:r>
          </a:p>
          <a:p xmlns:a="http://schemas.openxmlformats.org/drawingml/2006/main">
            <a:r>
              <a:t>Code review scope: local checkout at 711bdde7a7dcd2d217cfc75dbbbb2592a78582d3, including existing local changes. Checked 29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handoff checklist for the company developer or platform team. Authentication and storage are only part of the deployment.</a:t>
            </a:r>
          </a:p>
          <a:p xmlns:a="http://schemas.openxmlformats.org/drawingml/2006/main">
            <a:r>
              <a:t/>
            </a:r>
          </a:p>
          <a:p xmlns:a="http://schemas.openxmlformats.org/drawingml/2006/main">
            <a:r>
              <a:t>Detail for questions</a:t>
            </a:r>
          </a:p>
          <a:p xmlns:a="http://schemas.openxmlformats.org/drawingml/2006/main">
            <a:r>
              <a:t>Core services: frontend, API, worker, PostgreSQL, Redis-compatible Valkey, Meilisearch, and persistent media storage. The company can supply managed equivalents where compatible. S3 requires an endpoint, bucket, credentials with appropriate permissions, connectivity, and a browser-accessible media URL. The local prototype has an additional S3 public-URL patch that is separate from the minimal UI fork and must be evaluated if that storage topology is reused. Configure DNS, TLS, reverse proxy routing for the app/API/Socket.IO, upload size limits and timeouts. Store application signing keys and database/storage/identity credentials outside Git. Define access for hosts and participants, including any guest policy. Add SMTP and an approved sender only if local account email verification, password resets or notifications are needed. Authenticator-based TOTP does not require SMTP. Evaluate version support and dependency updates, perform database migrations, establish backup/restore and release rollback, and assign support ownership. Optional integrations such as CAPTCHA, image search and analytics are choices, not mandatory requirements for basic quiz play.</a:t>
            </a:r>
          </a:p>
          <a:p xmlns:a="http://schemas.openxmlformats.org/drawingml/2006/main">
            <a:r>
              <a:t/>
            </a:r>
          </a:p>
          <a:p xmlns:a="http://schemas.openxmlformats.org/drawingml/2006/main">
            <a:r>
              <a:t>Sources and attribution</a:t>
            </a:r>
          </a:p>
          <a:p xmlns:a="http://schemas.openxmlformats.org/drawingml/2006/main">
            <a:r>
              <a:t>https://classquiz.de/docs/self-host</a:t>
            </a:r>
          </a:p>
          <a:p xmlns:a="http://schemas.openxmlformats.org/drawingml/2006/main">
            <a:r>
              <a:t>https://github.com/mawoka-myblock/ClassQuiz/blob/711bdde7a7dcd2d217cfc75dbbbb2592a78582d3/docker-compose.yml</a:t>
            </a:r>
          </a:p>
          <a:p xmlns:a="http://schemas.openxmlformats.org/drawingml/2006/main">
            <a:r>
              <a:t>https://github.com/mawoka-myblock/ClassQuiz/blob/711bdde7a7dcd2d217cfc75dbbbb2592a78582d3/classquiz/config.py</a:t>
            </a:r>
          </a:p>
          <a:p xmlns:a="http://schemas.openxmlformats.org/drawingml/2006/main">
            <a:r>
              <a:t>https://github.com/mawoka-myblock/ClassQuiz/blob/711bdde7a7dcd2d217cfc75dbbbb2592a78582d3/classquiz/routers/users/twofa.py</a:t>
            </a:r>
          </a:p>
          <a:p xmlns:a="http://schemas.openxmlformats.org/drawingml/2006/main">
            <a:r>
              <a:t>Local deploy/README.md and deploy/compose.yaml.</a:t>
            </a:r>
          </a:p>
          <a:p xmlns:a="http://schemas.openxmlformats.org/drawingml/2006/main">
            <a:r>
              <a:t>Deployment requirements also include engineering recommendations for an internally operated service.</a:t>
            </a:r>
          </a:p>
          <a:p xmlns:a="http://schemas.openxmlformats.org/drawingml/2006/main">
            <a:r>
              <a:t/>
            </a:r>
          </a:p>
          <a:p xmlns:a="http://schemas.openxmlformats.org/drawingml/2006/main">
            <a:r>
              <a:t>Code review scope: local checkout at 711bdde7a7dcd2d217cfc75dbbbb2592a78582d3, including existing local changes. Checked 29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b94b5d547c40d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824c3044b8c4c2d" /><Relationship Type="http://schemas.openxmlformats.org/officeDocument/2006/relationships/slideLayout" Target="/ppt/slideLayouts/slideLayout1.xml" Id="Rc48cc61d27b24a6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48cc61d27b24a6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5a02de6759f4c65" /><Relationship Type="http://schemas.openxmlformats.org/officeDocument/2006/relationships/notesSlide" Target="/ppt/notesSlides/notesSlide1.xml" Id="Rfc89d208220c43a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78c1a1f3af14e64" /><Relationship Type="http://schemas.openxmlformats.org/officeDocument/2006/relationships/notesSlide" Target="/ppt/notesSlides/notesSlide2.xml" Id="Rb04c80ddfb96458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ce7a005114944c8" /><Relationship Type="http://schemas.openxmlformats.org/officeDocument/2006/relationships/image" Target="/ppt/media/image.png" Id="Re161b4d0b66d48d0" /><Relationship Type="http://schemas.openxmlformats.org/officeDocument/2006/relationships/notesSlide" Target="/ppt/notesSlides/notesSlide3.xml" Id="Rba9cd44747d8459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4c5980de1824917" /><Relationship Type="http://schemas.openxmlformats.org/officeDocument/2006/relationships/notesSlide" Target="/ppt/notesSlides/notesSlide4.xml" Id="R0a518032af3a4cd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089e77ef9cb4ad8" /><Relationship Type="http://schemas.openxmlformats.org/officeDocument/2006/relationships/notesSlide" Target="/ppt/notesSlides/notesSlide5.xml" Id="Ra1029681e0fc4bf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e7acb5529a74d7a" /><Relationship Type="http://schemas.openxmlformats.org/officeDocument/2006/relationships/notesSlide" Target="/ppt/notesSlides/notesSlide6.xml" Id="Rc7baee46e9cd4c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aed1e121dc74ced" /><Relationship Type="http://schemas.openxmlformats.org/officeDocument/2006/relationships/image" Target="/ppt/media/image2.png" Id="R8850410c6ad74689" /><Relationship Type="http://schemas.openxmlformats.org/officeDocument/2006/relationships/notesSlide" Target="/ppt/notesSlides/notesSlide7.xml" Id="R563cffee11a9429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6d55e6875674bce" /><Relationship Type="http://schemas.openxmlformats.org/officeDocument/2006/relationships/notesSlide" Target="/ppt/notesSlides/notesSlide8.xml" Id="Rc0f9ba9657a84aa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d4a229ecbc14abe" /><Relationship Type="http://schemas.openxmlformats.org/officeDocument/2006/relationships/notesSlide" Target="/ppt/notesSlides/notesSlide9.xml" Id="R3adb06a90afb4a9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b82f586a8064296" /><Relationship Type="http://schemas.openxmlformats.org/officeDocument/2006/relationships/notesSlide" Target="/ppt/notesSlides/notesSlide10.xml" Id="R1ef5f88bfd634f9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9f95aaf5dbb4bd8" /><Relationship Type="http://schemas.openxmlformats.org/officeDocument/2006/relationships/notesSlide" Target="/ppt/notesSlides/notesSlide11.xml" Id="Rf1908548efd3413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ed978ed999049a6" /><Relationship Type="http://schemas.openxmlformats.org/officeDocument/2006/relationships/notesSlide" Target="/ppt/notesSlides/notesSlide12.xml" Id="R629ac648e3294b6b" /></Relationships>
</file>

<file path=ppt/slides/slide1.xml><?xml version="1.0" encoding="utf-8"?>
<p:sld xmlns:p="http://schemas.openxmlformats.org/presentationml/2006/main">
  <p:cSld>
    <p:bg>
      <p:bgPr>
        <a:solidFill xmlns:a="http://schemas.openxmlformats.org/drawingml/2006/main">
          <a:srgbClr val="E20074"/>
        </a:solidFill>
      </p:bgPr>
    </p:bg>
    <p:spTree>
      <p:nvGrpSpPr>
        <p:cNvPr id="1" name=""/>
        <p:cNvGrpSpPr/>
        <p:nvPr/>
      </p:nvGrpSpPr>
      <p:grpSpPr>
        <a:xfrm xmlns:a="http://schemas.openxmlformats.org/drawingml/2006/main"/>
      </p:grpSpPr>
      <p:sp>
        <p:nvSpPr>
          <p:cNvPr id="6" name="page">
            <a:extLst xmlns:a="http://schemas.openxmlformats.org/drawingml/2006/main">
              <a:ext uri="{FF2B5EF4-FFF2-40B4-BE49-F238E27FC236}">
                <a16:creationId xmlns:a16="http://schemas.microsoft.com/office/drawing/2014/main" id="{ED3763F2-DC68-4FD8-B95E-F2E1AA018634}"/>
              </a:ext>
            </a:extLst>
          </p:cNvPr>
          <p:cNvSpPr>
            <a:spLocks xmlns:a="http://schemas.openxmlformats.org/drawingml/2006/main" noGrp="1"/>
          </p:cNvSpPr>
          <p:nvPr/>
        </p:nvSpPr>
        <p:spPr>
          <a:xfrm xmlns:a="http://schemas.openxmlformats.org/drawingml/2006/main">
            <a:off x="11144250" y="63150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Arial"/>
                <a:ea typeface="Arial"/>
                <a:cs typeface="Arial"/>
              </a:defRPr>
            </a:pPr>
            <a:r>
              <a:rPr sz="1275" b="0">
                <a:solidFill>
                  <a:srgbClr val="FFFFFF"/>
                </a:solidFill>
                <a:latin typeface="Arial"/>
                <a:ea typeface="Arial"/>
                <a:cs typeface="Arial"/>
              </a:rPr>
              <a:t>01</a:t>
            </a:r>
          </a:p>
        </p:txBody>
      </p:sp>
      <p:sp>
        <p:nvSpPr>
          <p:cNvPr id="2" name="title">
            <a:extLst xmlns:a="http://schemas.openxmlformats.org/drawingml/2006/main">
              <a:ext uri="{FF2B5EF4-FFF2-40B4-BE49-F238E27FC236}">
                <a16:creationId xmlns:a16="http://schemas.microsoft.com/office/drawing/2014/main" id="{E533B8B9-66A2-43BA-AB1C-53D81237E860}"/>
              </a:ext>
            </a:extLst>
          </p:cNvPr>
          <p:cNvSpPr>
            <a:spLocks xmlns:a="http://schemas.openxmlformats.org/drawingml/2006/main" noGrp="1"/>
          </p:cNvSpPr>
          <p:nvPr/>
        </p:nvSpPr>
        <p:spPr>
          <a:xfrm xmlns:a="http://schemas.openxmlformats.org/drawingml/2006/main">
            <a:off x="666750" y="1209675"/>
            <a:ext cx="9334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7050" b="1">
                <a:solidFill>
                  <a:srgbClr val="FFFFFF"/>
                </a:solidFill>
                <a:latin typeface="Arial"/>
                <a:ea typeface="Arial"/>
                <a:cs typeface="Arial"/>
              </a:defRPr>
            </a:pPr>
            <a:r>
              <a:rPr sz="7050" b="1">
                <a:solidFill>
                  <a:srgbClr val="FFFFFF"/>
                </a:solidFill>
                <a:latin typeface="Arial"/>
                <a:ea typeface="Arial"/>
                <a:cs typeface="Arial"/>
              </a:rPr>
              <a:t>ClassQuiz</a:t>
            </a:r>
          </a:p>
        </p:txBody>
      </p:sp>
      <p:sp>
        <p:nvSpPr>
          <p:cNvPr id="3" name="subtitle">
            <a:extLst xmlns:a="http://schemas.openxmlformats.org/drawingml/2006/main">
              <a:ext uri="{FF2B5EF4-FFF2-40B4-BE49-F238E27FC236}">
                <a16:creationId xmlns:a16="http://schemas.microsoft.com/office/drawing/2014/main" id="{2908D33C-B68F-4A6C-8F55-B6524E1727DE}"/>
              </a:ext>
            </a:extLst>
          </p:cNvPr>
          <p:cNvSpPr>
            <a:spLocks xmlns:a="http://schemas.openxmlformats.org/drawingml/2006/main" noGrp="1"/>
          </p:cNvSpPr>
          <p:nvPr/>
        </p:nvSpPr>
        <p:spPr>
          <a:xfrm xmlns:a="http://schemas.openxmlformats.org/drawingml/2006/main">
            <a:off x="704850" y="2667000"/>
            <a:ext cx="9429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0">
                <a:solidFill>
                  <a:srgbClr val="FFFFFF"/>
                </a:solidFill>
                <a:latin typeface="Arial"/>
                <a:ea typeface="Arial"/>
                <a:cs typeface="Arial"/>
              </a:defRPr>
            </a:pPr>
            <a:r>
              <a:rPr sz="3600" b="0">
                <a:solidFill>
                  <a:srgbClr val="FFFFFF"/>
                </a:solidFill>
                <a:latin typeface="Arial"/>
                <a:ea typeface="Arial"/>
                <a:cs typeface="Arial"/>
              </a:rPr>
              <a:t>An open-source quiz platform</a:t>
            </a:r>
          </a:p>
          <a:p xmlns:a="http://schemas.openxmlformats.org/drawingml/2006/main">
            <a:pPr>
              <a:defRPr sz="3600" b="0">
                <a:solidFill>
                  <a:srgbClr val="FFFFFF"/>
                </a:solidFill>
                <a:latin typeface="Arial"/>
                <a:ea typeface="Arial"/>
                <a:cs typeface="Arial"/>
              </a:defRPr>
            </a:pPr>
            <a:r>
              <a:rPr sz="3600" b="0">
                <a:solidFill>
                  <a:srgbClr val="FFFFFF"/>
                </a:solidFill>
                <a:latin typeface="Arial"/>
                <a:ea typeface="Arial"/>
                <a:cs typeface="Arial"/>
              </a:rPr>
              <a:t>for our company events</a:t>
            </a:r>
          </a:p>
        </p:txBody>
      </p:sp>
      <p:sp>
        <p:nvSpPr>
          <p:cNvPr id="4" name="context">
            <a:extLst xmlns:a="http://schemas.openxmlformats.org/drawingml/2006/main">
              <a:ext uri="{FF2B5EF4-FFF2-40B4-BE49-F238E27FC236}">
                <a16:creationId xmlns:a16="http://schemas.microsoft.com/office/drawing/2014/main" id="{491AD833-3B11-465A-84BC-DECD9AF9227E}"/>
              </a:ext>
            </a:extLst>
          </p:cNvPr>
          <p:cNvSpPr>
            <a:spLocks xmlns:a="http://schemas.openxmlformats.org/drawingml/2006/main" noGrp="1"/>
          </p:cNvSpPr>
          <p:nvPr/>
        </p:nvSpPr>
        <p:spPr>
          <a:xfrm xmlns:a="http://schemas.openxmlformats.org/drawingml/2006/main">
            <a:off x="704850" y="5010150"/>
            <a:ext cx="990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Hackathon proposal for Deutsche Telekom</a:t>
            </a:r>
          </a:p>
        </p:txBody>
      </p:sp>
      <p:sp>
        <p:nvSpPr>
          <p:cNvPr id="5" name="credit">
            <a:extLst xmlns:a="http://schemas.openxmlformats.org/drawingml/2006/main">
              <a:ext uri="{FF2B5EF4-FFF2-40B4-BE49-F238E27FC236}">
                <a16:creationId xmlns:a16="http://schemas.microsoft.com/office/drawing/2014/main" id="{C4E7E83B-91E7-4C59-ABE8-18F0A531A980}"/>
              </a:ext>
            </a:extLst>
          </p:cNvPr>
          <p:cNvSpPr>
            <a:spLocks xmlns:a="http://schemas.openxmlformats.org/drawingml/2006/main" noGrp="1"/>
          </p:cNvSpPr>
          <p:nvPr/>
        </p:nvSpPr>
        <p:spPr>
          <a:xfrm xmlns:a="http://schemas.openxmlformats.org/drawingml/2006/main">
            <a:off x="704850" y="5600700"/>
            <a:ext cx="981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Created by Mawoka and the ClassQuiz contributors</a:t>
            </a:r>
          </a:p>
        </p:txBody>
      </p:sp>
    </p:spTree>
    <p:extLst>
      <p:ext uri="{BB962C8B-B14F-4D97-AF65-F5344CB8AC3E}">
        <p14:creationId xmlns:p14="http://schemas.microsoft.com/office/powerpoint/2010/main" val="18949578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3EC905C5-3E62-4CC7-84A7-E01054F987BD}"/>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02124"/>
                </a:solidFill>
                <a:latin typeface="Arial"/>
                <a:ea typeface="Arial"/>
                <a:cs typeface="Arial"/>
              </a:defRPr>
            </a:pPr>
            <a:r>
              <a:rPr sz="3450" b="1">
                <a:solidFill>
                  <a:srgbClr val="202124"/>
                </a:solidFill>
                <a:latin typeface="Arial"/>
                <a:ea typeface="Arial"/>
                <a:cs typeface="Arial"/>
              </a:rPr>
              <a:t>The need and my contribution</a:t>
            </a:r>
          </a:p>
        </p:txBody>
      </p:sp>
      <p:sp>
        <p:nvSpPr>
          <p:cNvPr id="2" name="page">
            <a:extLst xmlns:a="http://schemas.openxmlformats.org/drawingml/2006/main">
              <a:ext uri="{FF2B5EF4-FFF2-40B4-BE49-F238E27FC236}">
                <a16:creationId xmlns:a16="http://schemas.microsoft.com/office/drawing/2014/main" id="{B72C18F7-DA43-485B-84CC-ED82585A9D98}"/>
              </a:ext>
            </a:extLst>
          </p:cNvPr>
          <p:cNvSpPr>
            <a:spLocks xmlns:a="http://schemas.openxmlformats.org/drawingml/2006/main" noGrp="1"/>
          </p:cNvSpPr>
          <p:nvPr/>
        </p:nvSpPr>
        <p:spPr>
          <a:xfrm xmlns:a="http://schemas.openxmlformats.org/drawingml/2006/main">
            <a:off x="11144250" y="63150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26B"/>
                </a:solidFill>
                <a:latin typeface="Arial"/>
                <a:ea typeface="Arial"/>
                <a:cs typeface="Arial"/>
              </a:defRPr>
            </a:pPr>
            <a:r>
              <a:rPr sz="1275" b="0">
                <a:solidFill>
                  <a:srgbClr val="5C626B"/>
                </a:solidFill>
                <a:latin typeface="Arial"/>
                <a:ea typeface="Arial"/>
                <a:cs typeface="Arial"/>
              </a:rPr>
              <a:t>02</a:t>
            </a:r>
          </a:p>
        </p:txBody>
      </p:sp>
      <p:sp>
        <p:nvSpPr>
          <p:cNvPr id="3" name="need heading">
            <a:extLst xmlns:a="http://schemas.openxmlformats.org/drawingml/2006/main">
              <a:ext uri="{FF2B5EF4-FFF2-40B4-BE49-F238E27FC236}">
                <a16:creationId xmlns:a16="http://schemas.microsoft.com/office/drawing/2014/main" id="{78D2A51F-65F9-49A2-B840-3B746A3533E1}"/>
              </a:ext>
            </a:extLst>
          </p:cNvPr>
          <p:cNvSpPr>
            <a:spLocks xmlns:a="http://schemas.openxmlformats.org/drawingml/2006/main" noGrp="1"/>
          </p:cNvSpPr>
          <p:nvPr/>
        </p:nvSpPr>
        <p:spPr>
          <a:xfrm xmlns:a="http://schemas.openxmlformats.org/drawingml/2006/main">
            <a:off x="666750" y="175260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Our event need</a:t>
            </a:r>
          </a:p>
        </p:txBody>
      </p:sp>
      <p:sp>
        <p:nvSpPr>
          <p:cNvPr id="4" name="need body">
            <a:extLst xmlns:a="http://schemas.openxmlformats.org/drawingml/2006/main">
              <a:ext uri="{FF2B5EF4-FFF2-40B4-BE49-F238E27FC236}">
                <a16:creationId xmlns:a16="http://schemas.microsoft.com/office/drawing/2014/main" id="{159BE86E-1B6E-43A8-A655-AA4F8EDFA23E}"/>
              </a:ext>
            </a:extLst>
          </p:cNvPr>
          <p:cNvSpPr>
            <a:spLocks xmlns:a="http://schemas.openxmlformats.org/drawingml/2006/main" noGrp="1"/>
          </p:cNvSpPr>
          <p:nvPr/>
        </p:nvSpPr>
        <p:spPr>
          <a:xfrm xmlns:a="http://schemas.openxmlformats.org/drawingml/2006/main">
            <a:off x="666750" y="223837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2124"/>
                </a:solidFill>
                <a:latin typeface="Arial"/>
                <a:ea typeface="Arial"/>
                <a:cs typeface="Arial"/>
              </a:defRPr>
            </a:pPr>
            <a:r>
              <a:rPr sz="2025" b="0">
                <a:solidFill>
                  <a:srgbClr val="202124"/>
                </a:solidFill>
                <a:latin typeface="Arial"/>
                <a:ea typeface="Arial"/>
                <a:cs typeface="Arial"/>
              </a:rPr>
              <a:t>We do not have Kahoot available.</a:t>
            </a:r>
          </a:p>
          <a:p xmlns:a="http://schemas.openxmlformats.org/drawingml/2006/main">
            <a:r>
              <a:t/>
            </a:r>
          </a:p>
          <a:p xmlns:a="http://schemas.openxmlformats.org/drawingml/2006/main">
            <a:pPr>
              <a:defRPr sz="2025" b="0">
                <a:solidFill>
                  <a:srgbClr val="202124"/>
                </a:solidFill>
                <a:latin typeface="Arial"/>
                <a:ea typeface="Arial"/>
                <a:cs typeface="Arial"/>
              </a:defRPr>
            </a:pPr>
            <a:r>
              <a:rPr sz="2025" b="0">
                <a:solidFill>
                  <a:srgbClr val="202124"/>
                </a:solidFill>
                <a:latin typeface="Arial"/>
                <a:ea typeface="Arial"/>
                <a:cs typeface="Arial"/>
              </a:rPr>
              <a:t>Our current alternative has been unreliable.</a:t>
            </a:r>
          </a:p>
        </p:txBody>
      </p:sp>
      <p:sp>
        <p:nvSpPr>
          <p:cNvPr id="5" name="contribution heading">
            <a:extLst xmlns:a="http://schemas.openxmlformats.org/drawingml/2006/main">
              <a:ext uri="{FF2B5EF4-FFF2-40B4-BE49-F238E27FC236}">
                <a16:creationId xmlns:a16="http://schemas.microsoft.com/office/drawing/2014/main" id="{76986CC5-0408-4242-B1F7-51BAE7D19120}"/>
              </a:ext>
            </a:extLst>
          </p:cNvPr>
          <p:cNvSpPr>
            <a:spLocks xmlns:a="http://schemas.openxmlformats.org/drawingml/2006/main" noGrp="1"/>
          </p:cNvSpPr>
          <p:nvPr/>
        </p:nvSpPr>
        <p:spPr>
          <a:xfrm xmlns:a="http://schemas.openxmlformats.org/drawingml/2006/main">
            <a:off x="6419850" y="17526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What I brought to the hackathon</a:t>
            </a:r>
          </a:p>
        </p:txBody>
      </p:sp>
      <p:sp>
        <p:nvSpPr>
          <p:cNvPr id="6" name="contribution body">
            <a:extLst xmlns:a="http://schemas.openxmlformats.org/drawingml/2006/main">
              <a:ext uri="{FF2B5EF4-FFF2-40B4-BE49-F238E27FC236}">
                <a16:creationId xmlns:a16="http://schemas.microsoft.com/office/drawing/2014/main" id="{C6C0651D-1482-424E-BFB4-A562F2850B16}"/>
              </a:ext>
            </a:extLst>
          </p:cNvPr>
          <p:cNvSpPr>
            <a:spLocks xmlns:a="http://schemas.openxmlformats.org/drawingml/2006/main" noGrp="1"/>
          </p:cNvSpPr>
          <p:nvPr/>
        </p:nvSpPr>
        <p:spPr>
          <a:xfrm xmlns:a="http://schemas.openxmlformats.org/drawingml/2006/main">
            <a:off x="6419850" y="2238375"/>
            <a:ext cx="4953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2124"/>
                </a:solidFill>
                <a:latin typeface="Arial"/>
                <a:ea typeface="Arial"/>
                <a:cs typeface="Arial"/>
              </a:defRPr>
            </a:pPr>
            <a:r>
              <a:rPr sz="2025" b="0">
                <a:solidFill>
                  <a:srgbClr val="202124"/>
                </a:solidFill>
                <a:latin typeface="Arial"/>
                <a:ea typeface="Arial"/>
                <a:cs typeface="Arial"/>
              </a:rPr>
              <a:t>Found a suitable open-source project.</a:t>
            </a:r>
          </a:p>
          <a:p xmlns:a="http://schemas.openxmlformats.org/drawingml/2006/main">
            <a:r>
              <a:t/>
            </a:r>
          </a:p>
          <a:p xmlns:a="http://schemas.openxmlformats.org/drawingml/2006/main">
            <a:pPr>
              <a:defRPr sz="2025" b="0">
                <a:solidFill>
                  <a:srgbClr val="202124"/>
                </a:solidFill>
                <a:latin typeface="Arial"/>
                <a:ea typeface="Arial"/>
                <a:cs typeface="Arial"/>
              </a:defRPr>
            </a:pPr>
            <a:r>
              <a:rPr sz="2025" b="0">
                <a:solidFill>
                  <a:srgbClr val="202124"/>
                </a:solidFill>
                <a:latin typeface="Arial"/>
                <a:ea typeface="Arial"/>
                <a:cs typeface="Arial"/>
              </a:rPr>
              <a:t>We simplified the UI, including removing “Why choose ClassQuiz”.</a:t>
            </a:r>
          </a:p>
        </p:txBody>
      </p:sp>
      <p:sp>
        <p:nvSpPr>
          <p:cNvPr id="7" name="proposal">
            <a:extLst xmlns:a="http://schemas.openxmlformats.org/drawingml/2006/main">
              <a:ext uri="{FF2B5EF4-FFF2-40B4-BE49-F238E27FC236}">
                <a16:creationId xmlns:a16="http://schemas.microsoft.com/office/drawing/2014/main" id="{92C5D3DF-CFD7-4B0B-927A-E442406BFE77}"/>
              </a:ext>
            </a:extLst>
          </p:cNvPr>
          <p:cNvSpPr>
            <a:spLocks xmlns:a="http://schemas.openxmlformats.org/drawingml/2006/main" noGrp="1"/>
          </p:cNvSpPr>
          <p:nvPr/>
        </p:nvSpPr>
        <p:spPr>
          <a:xfrm xmlns:a="http://schemas.openxmlformats.org/drawingml/2006/main">
            <a:off x="666750" y="5010150"/>
            <a:ext cx="10287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E20074"/>
                </a:solidFill>
                <a:latin typeface="Arial"/>
                <a:ea typeface="Arial"/>
                <a:cs typeface="Arial"/>
              </a:defRPr>
            </a:pPr>
            <a:r>
              <a:rPr sz="2550" b="1">
                <a:solidFill>
                  <a:srgbClr val="E20074"/>
                </a:solidFill>
                <a:latin typeface="Arial"/>
                <a:ea typeface="Arial"/>
                <a:cs typeface="Arial"/>
              </a:rPr>
              <a:t>The proposal is to evaluate ClassQuiz for an internal pilot.</a:t>
            </a:r>
          </a:p>
        </p:txBody>
      </p:sp>
    </p:spTree>
    <p:extLst>
      <p:ext uri="{BB962C8B-B14F-4D97-AF65-F5344CB8AC3E}">
        <p14:creationId xmlns:p14="http://schemas.microsoft.com/office/powerpoint/2010/main" val="79086389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F3FFE2BC-4849-48A3-B0EB-CDAECA71F7B3}"/>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02124"/>
                </a:solidFill>
                <a:latin typeface="Arial"/>
                <a:ea typeface="Arial"/>
                <a:cs typeface="Arial"/>
              </a:defRPr>
            </a:pPr>
            <a:r>
              <a:rPr sz="3450" b="1">
                <a:solidFill>
                  <a:srgbClr val="202124"/>
                </a:solidFill>
                <a:latin typeface="Arial"/>
                <a:ea typeface="Arial"/>
                <a:cs typeface="Arial"/>
              </a:rPr>
              <a:t>A familiar live quiz experience</a:t>
            </a:r>
          </a:p>
        </p:txBody>
      </p:sp>
      <p:sp>
        <p:nvSpPr>
          <p:cNvPr id="2" name="page">
            <a:extLst xmlns:a="http://schemas.openxmlformats.org/drawingml/2006/main">
              <a:ext uri="{FF2B5EF4-FFF2-40B4-BE49-F238E27FC236}">
                <a16:creationId xmlns:a16="http://schemas.microsoft.com/office/drawing/2014/main" id="{EE56370B-4B98-41DC-8DA2-33658BADADFC}"/>
              </a:ext>
            </a:extLst>
          </p:cNvPr>
          <p:cNvSpPr>
            <a:spLocks xmlns:a="http://schemas.openxmlformats.org/drawingml/2006/main" noGrp="1"/>
          </p:cNvSpPr>
          <p:nvPr/>
        </p:nvSpPr>
        <p:spPr>
          <a:xfrm xmlns:a="http://schemas.openxmlformats.org/drawingml/2006/main">
            <a:off x="11144250" y="63150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26B"/>
                </a:solidFill>
                <a:latin typeface="Arial"/>
                <a:ea typeface="Arial"/>
                <a:cs typeface="Arial"/>
              </a:defRPr>
            </a:pPr>
            <a:r>
              <a:rPr sz="1275" b="0">
                <a:solidFill>
                  <a:srgbClr val="5C626B"/>
                </a:solidFill>
                <a:latin typeface="Arial"/>
                <a:ea typeface="Arial"/>
                <a:cs typeface="Arial"/>
              </a:rPr>
              <a:t>03</a:t>
            </a:r>
          </a:p>
        </p:txBody>
      </p:sp>
      <p:sp>
        <p:nvSpPr>
          <p:cNvPr id="3" name="host heading">
            <a:extLst xmlns:a="http://schemas.openxmlformats.org/drawingml/2006/main">
              <a:ext uri="{FF2B5EF4-FFF2-40B4-BE49-F238E27FC236}">
                <a16:creationId xmlns:a16="http://schemas.microsoft.com/office/drawing/2014/main" id="{0155CB0F-6E6B-452A-B53F-2CED3038CCB5}"/>
              </a:ext>
            </a:extLst>
          </p:cNvPr>
          <p:cNvSpPr>
            <a:spLocks xmlns:a="http://schemas.openxmlformats.org/drawingml/2006/main" noGrp="1"/>
          </p:cNvSpPr>
          <p:nvPr/>
        </p:nvSpPr>
        <p:spPr>
          <a:xfrm xmlns:a="http://schemas.openxmlformats.org/drawingml/2006/main">
            <a:off x="666750" y="1666875"/>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1  Prepare</a:t>
            </a:r>
          </a:p>
        </p:txBody>
      </p:sp>
      <p:sp>
        <p:nvSpPr>
          <p:cNvPr id="4" name="host body">
            <a:extLst xmlns:a="http://schemas.openxmlformats.org/drawingml/2006/main">
              <a:ext uri="{FF2B5EF4-FFF2-40B4-BE49-F238E27FC236}">
                <a16:creationId xmlns:a16="http://schemas.microsoft.com/office/drawing/2014/main" id="{AECB8272-7E26-4A9C-B79B-394EDD38AEA1}"/>
              </a:ext>
            </a:extLst>
          </p:cNvPr>
          <p:cNvSpPr>
            <a:spLocks xmlns:a="http://schemas.openxmlformats.org/drawingml/2006/main" noGrp="1"/>
          </p:cNvSpPr>
          <p:nvPr/>
        </p:nvSpPr>
        <p:spPr>
          <a:xfrm xmlns:a="http://schemas.openxmlformats.org/drawingml/2006/main">
            <a:off x="666750" y="2152650"/>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02124"/>
                </a:solidFill>
                <a:latin typeface="Arial"/>
                <a:ea typeface="Arial"/>
                <a:cs typeface="Arial"/>
              </a:defRPr>
            </a:pPr>
            <a:r>
              <a:rPr sz="1875" b="0">
                <a:solidFill>
                  <a:srgbClr val="202124"/>
                </a:solidFill>
                <a:latin typeface="Arial"/>
                <a:ea typeface="Arial"/>
                <a:cs typeface="Arial"/>
              </a:rPr>
              <a:t>The host creates a quiz</a:t>
            </a:r>
          </a:p>
          <a:p xmlns:a="http://schemas.openxmlformats.org/drawingml/2006/main">
            <a:pPr>
              <a:defRPr sz="1875" b="0">
                <a:solidFill>
                  <a:srgbClr val="202124"/>
                </a:solidFill>
                <a:latin typeface="Arial"/>
                <a:ea typeface="Arial"/>
                <a:cs typeface="Arial"/>
              </a:defRPr>
            </a:pPr>
            <a:r>
              <a:rPr sz="1875" b="0">
                <a:solidFill>
                  <a:srgbClr val="202124"/>
                </a:solidFill>
                <a:latin typeface="Arial"/>
                <a:ea typeface="Arial"/>
                <a:cs typeface="Arial"/>
              </a:rPr>
              <a:t>and starts a session.</a:t>
            </a:r>
          </a:p>
        </p:txBody>
      </p:sp>
      <p:sp>
        <p:nvSpPr>
          <p:cNvPr id="5" name="join heading">
            <a:extLst xmlns:a="http://schemas.openxmlformats.org/drawingml/2006/main">
              <a:ext uri="{FF2B5EF4-FFF2-40B4-BE49-F238E27FC236}">
                <a16:creationId xmlns:a16="http://schemas.microsoft.com/office/drawing/2014/main" id="{EB6DD60C-4162-49C4-A463-A5983DE49C2D}"/>
              </a:ext>
            </a:extLst>
          </p:cNvPr>
          <p:cNvSpPr>
            <a:spLocks xmlns:a="http://schemas.openxmlformats.org/drawingml/2006/main" noGrp="1"/>
          </p:cNvSpPr>
          <p:nvPr/>
        </p:nvSpPr>
        <p:spPr>
          <a:xfrm xmlns:a="http://schemas.openxmlformats.org/drawingml/2006/main">
            <a:off x="666750" y="3048000"/>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2  Join</a:t>
            </a:r>
          </a:p>
        </p:txBody>
      </p:sp>
      <p:sp>
        <p:nvSpPr>
          <p:cNvPr id="6" name="join body">
            <a:extLst xmlns:a="http://schemas.openxmlformats.org/drawingml/2006/main">
              <a:ext uri="{FF2B5EF4-FFF2-40B4-BE49-F238E27FC236}">
                <a16:creationId xmlns:a16="http://schemas.microsoft.com/office/drawing/2014/main" id="{B893187C-49A6-4B7B-85E3-1C42D696453B}"/>
              </a:ext>
            </a:extLst>
          </p:cNvPr>
          <p:cNvSpPr>
            <a:spLocks xmlns:a="http://schemas.openxmlformats.org/drawingml/2006/main" noGrp="1"/>
          </p:cNvSpPr>
          <p:nvPr/>
        </p:nvSpPr>
        <p:spPr>
          <a:xfrm xmlns:a="http://schemas.openxmlformats.org/drawingml/2006/main">
            <a:off x="666750" y="3533775"/>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02124"/>
                </a:solidFill>
                <a:latin typeface="Arial"/>
                <a:ea typeface="Arial"/>
                <a:cs typeface="Arial"/>
              </a:defRPr>
            </a:pPr>
            <a:r>
              <a:rPr sz="1875" b="0">
                <a:solidFill>
                  <a:srgbClr val="202124"/>
                </a:solidFill>
                <a:latin typeface="Arial"/>
                <a:ea typeface="Arial"/>
                <a:cs typeface="Arial"/>
              </a:rPr>
              <a:t>Participants open a browser</a:t>
            </a:r>
          </a:p>
          <a:p xmlns:a="http://schemas.openxmlformats.org/drawingml/2006/main">
            <a:pPr>
              <a:defRPr sz="1875" b="0">
                <a:solidFill>
                  <a:srgbClr val="202124"/>
                </a:solidFill>
                <a:latin typeface="Arial"/>
                <a:ea typeface="Arial"/>
                <a:cs typeface="Arial"/>
              </a:defRPr>
            </a:pPr>
            <a:r>
              <a:rPr sz="1875" b="0">
                <a:solidFill>
                  <a:srgbClr val="202124"/>
                </a:solidFill>
                <a:latin typeface="Arial"/>
                <a:ea typeface="Arial"/>
                <a:cs typeface="Arial"/>
              </a:rPr>
              <a:t>and enter the game PIN.</a:t>
            </a:r>
          </a:p>
        </p:txBody>
      </p:sp>
      <p:sp>
        <p:nvSpPr>
          <p:cNvPr id="7" name="play heading">
            <a:extLst xmlns:a="http://schemas.openxmlformats.org/drawingml/2006/main">
              <a:ext uri="{FF2B5EF4-FFF2-40B4-BE49-F238E27FC236}">
                <a16:creationId xmlns:a16="http://schemas.microsoft.com/office/drawing/2014/main" id="{7364CC7E-DF9E-41B4-897E-D064D98C0DF0}"/>
              </a:ext>
            </a:extLst>
          </p:cNvPr>
          <p:cNvSpPr>
            <a:spLocks xmlns:a="http://schemas.openxmlformats.org/drawingml/2006/main" noGrp="1"/>
          </p:cNvSpPr>
          <p:nvPr/>
        </p:nvSpPr>
        <p:spPr>
          <a:xfrm xmlns:a="http://schemas.openxmlformats.org/drawingml/2006/main">
            <a:off x="666750" y="4429125"/>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3  Play</a:t>
            </a:r>
          </a:p>
        </p:txBody>
      </p:sp>
      <p:sp>
        <p:nvSpPr>
          <p:cNvPr id="8" name="play body">
            <a:extLst xmlns:a="http://schemas.openxmlformats.org/drawingml/2006/main">
              <a:ext uri="{FF2B5EF4-FFF2-40B4-BE49-F238E27FC236}">
                <a16:creationId xmlns:a16="http://schemas.microsoft.com/office/drawing/2014/main" id="{474C08B3-FF4F-4611-95FB-2E9988951DE1}"/>
              </a:ext>
            </a:extLst>
          </p:cNvPr>
          <p:cNvSpPr>
            <a:spLocks xmlns:a="http://schemas.openxmlformats.org/drawingml/2006/main" noGrp="1"/>
          </p:cNvSpPr>
          <p:nvPr/>
        </p:nvSpPr>
        <p:spPr>
          <a:xfrm xmlns:a="http://schemas.openxmlformats.org/drawingml/2006/main">
            <a:off x="666750" y="4914900"/>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02124"/>
                </a:solidFill>
                <a:latin typeface="Arial"/>
                <a:ea typeface="Arial"/>
                <a:cs typeface="Arial"/>
              </a:defRPr>
            </a:pPr>
            <a:r>
              <a:rPr sz="1875" b="0">
                <a:solidFill>
                  <a:srgbClr val="202124"/>
                </a:solidFill>
                <a:latin typeface="Arial"/>
                <a:ea typeface="Arial"/>
                <a:cs typeface="Arial"/>
              </a:rPr>
              <a:t>Answer questions and</a:t>
            </a:r>
          </a:p>
          <a:p xmlns:a="http://schemas.openxmlformats.org/drawingml/2006/main">
            <a:pPr>
              <a:defRPr sz="1875" b="0">
                <a:solidFill>
                  <a:srgbClr val="202124"/>
                </a:solidFill>
                <a:latin typeface="Arial"/>
                <a:ea typeface="Arial"/>
                <a:cs typeface="Arial"/>
              </a:defRPr>
            </a:pPr>
            <a:r>
              <a:rPr sz="1875" b="0">
                <a:solidFill>
                  <a:srgbClr val="202124"/>
                </a:solidFill>
                <a:latin typeface="Arial"/>
                <a:ea typeface="Arial"/>
                <a:cs typeface="Arial"/>
              </a:rPr>
              <a:t>see the results together.</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e161b4d0b66d48d0"/>
          <a:stretch xmlns:a="http://schemas.openxmlformats.org/drawingml/2006/main"/>
        </p:blipFill>
        <p:spPr>
          <a:xfrm xmlns:a="http://schemas.openxmlformats.org/drawingml/2006/main">
            <a:off x="4248150" y="1759409"/>
            <a:ext cx="7286625" cy="3472532"/>
          </a:xfrm>
          <a:prstGeom xmlns:a="http://schemas.openxmlformats.org/drawingml/2006/main" prst="rect">
            <a:avLst/>
          </a:prstGeom>
        </p:spPr>
      </p:pic>
      <p:sp>
        <p:nvSpPr>
          <p:cNvPr id="10" name="demo link">
            <a:extLst xmlns:a="http://schemas.openxmlformats.org/drawingml/2006/main">
              <a:ext uri="{FF2B5EF4-FFF2-40B4-BE49-F238E27FC236}">
                <a16:creationId xmlns:a16="http://schemas.microsoft.com/office/drawing/2014/main" id="{F98A7053-7EBD-4A6D-B151-92A0C3346EF3}"/>
              </a:ext>
            </a:extLst>
          </p:cNvPr>
          <p:cNvSpPr>
            <a:spLocks xmlns:a="http://schemas.openxmlformats.org/drawingml/2006/main" noGrp="1"/>
          </p:cNvSpPr>
          <p:nvPr/>
        </p:nvSpPr>
        <p:spPr>
          <a:xfrm xmlns:a="http://schemas.openxmlformats.org/drawingml/2006/main">
            <a:off x="4248150" y="5429250"/>
            <a:ext cx="7191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Live demo: https://quiz.911bob.dev</a:t>
            </a:r>
          </a:p>
        </p:txBody>
      </p:sp>
      <p:sp>
        <p:nvSpPr>
          <p:cNvPr id="11" name="demo limits">
            <a:extLst xmlns:a="http://schemas.openxmlformats.org/drawingml/2006/main">
              <a:ext uri="{FF2B5EF4-FFF2-40B4-BE49-F238E27FC236}">
                <a16:creationId xmlns:a16="http://schemas.microsoft.com/office/drawing/2014/main" id="{6C0616D1-8557-4CC3-BD2A-FEACB546BC9A}"/>
              </a:ext>
            </a:extLst>
          </p:cNvPr>
          <p:cNvSpPr>
            <a:spLocks xmlns:a="http://schemas.openxmlformats.org/drawingml/2006/main" noGrp="1"/>
          </p:cNvSpPr>
          <p:nvPr/>
        </p:nvSpPr>
        <p:spPr>
          <a:xfrm xmlns:a="http://schemas.openxmlformats.org/drawingml/2006/main">
            <a:off x="4248150" y="5924550"/>
            <a:ext cx="719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C626B"/>
                </a:solidFill>
                <a:latin typeface="Arial"/>
                <a:ea typeface="Arial"/>
                <a:cs typeface="Arial"/>
              </a:defRPr>
            </a:pPr>
            <a:r>
              <a:rPr sz="1500" b="0">
                <a:solidFill>
                  <a:srgbClr val="5C626B"/>
                </a:solidFill>
                <a:latin typeface="Arial"/>
                <a:ea typeface="Arial"/>
                <a:cs typeface="Arial"/>
              </a:rPr>
              <a:t>Demo setup: no 2FA configured, no SMTP/email verification.</a:t>
            </a:r>
          </a:p>
        </p:txBody>
      </p:sp>
    </p:spTree>
    <p:extLst>
      <p:ext uri="{BB962C8B-B14F-4D97-AF65-F5344CB8AC3E}">
        <p14:creationId xmlns:p14="http://schemas.microsoft.com/office/powerpoint/2010/main" val="86796386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E9AD622E-56C2-4D07-B347-B477246901EC}"/>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02124"/>
                </a:solidFill>
                <a:latin typeface="Arial"/>
                <a:ea typeface="Arial"/>
                <a:cs typeface="Arial"/>
              </a:defRPr>
            </a:pPr>
            <a:r>
              <a:rPr sz="3450" b="1">
                <a:solidFill>
                  <a:srgbClr val="202124"/>
                </a:solidFill>
                <a:latin typeface="Arial"/>
                <a:ea typeface="Arial"/>
                <a:cs typeface="Arial"/>
              </a:rPr>
              <a:t>MPL 2.0 permits company use</a:t>
            </a:r>
          </a:p>
        </p:txBody>
      </p:sp>
      <p:sp>
        <p:nvSpPr>
          <p:cNvPr id="2" name="page">
            <a:extLst xmlns:a="http://schemas.openxmlformats.org/drawingml/2006/main">
              <a:ext uri="{FF2B5EF4-FFF2-40B4-BE49-F238E27FC236}">
                <a16:creationId xmlns:a16="http://schemas.microsoft.com/office/drawing/2014/main" id="{93904F2C-2FEB-4532-B213-246EFC0CC303}"/>
              </a:ext>
            </a:extLst>
          </p:cNvPr>
          <p:cNvSpPr>
            <a:spLocks xmlns:a="http://schemas.openxmlformats.org/drawingml/2006/main" noGrp="1"/>
          </p:cNvSpPr>
          <p:nvPr/>
        </p:nvSpPr>
        <p:spPr>
          <a:xfrm xmlns:a="http://schemas.openxmlformats.org/drawingml/2006/main">
            <a:off x="11144250" y="63150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26B"/>
                </a:solidFill>
                <a:latin typeface="Arial"/>
                <a:ea typeface="Arial"/>
                <a:cs typeface="Arial"/>
              </a:defRPr>
            </a:pPr>
            <a:r>
              <a:rPr sz="1275" b="0">
                <a:solidFill>
                  <a:srgbClr val="5C626B"/>
                </a:solidFill>
                <a:latin typeface="Arial"/>
                <a:ea typeface="Arial"/>
                <a:cs typeface="Arial"/>
              </a:rPr>
              <a:t>04</a:t>
            </a:r>
          </a:p>
        </p:txBody>
      </p:sp>
      <p:sp>
        <p:nvSpPr>
          <p:cNvPr id="3" name="permission">
            <a:extLst xmlns:a="http://schemas.openxmlformats.org/drawingml/2006/main">
              <a:ext uri="{FF2B5EF4-FFF2-40B4-BE49-F238E27FC236}">
                <a16:creationId xmlns:a16="http://schemas.microsoft.com/office/drawing/2014/main" id="{E4A01272-2A26-48CD-96EB-ADB73AD60045}"/>
              </a:ext>
            </a:extLst>
          </p:cNvPr>
          <p:cNvSpPr>
            <a:spLocks xmlns:a="http://schemas.openxmlformats.org/drawingml/2006/main" noGrp="1"/>
          </p:cNvSpPr>
          <p:nvPr/>
        </p:nvSpPr>
        <p:spPr>
          <a:xfrm xmlns:a="http://schemas.openxmlformats.org/drawingml/2006/main">
            <a:off x="666750" y="1562100"/>
            <a:ext cx="1038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E20074"/>
                </a:solidFill>
                <a:latin typeface="Arial"/>
                <a:ea typeface="Arial"/>
                <a:cs typeface="Arial"/>
              </a:defRPr>
            </a:pPr>
            <a:r>
              <a:rPr sz="2850" b="1">
                <a:solidFill>
                  <a:srgbClr val="E20074"/>
                </a:solidFill>
                <a:latin typeface="Arial"/>
                <a:ea typeface="Arial"/>
                <a:cs typeface="Arial"/>
              </a:rPr>
              <a:t>We can use, self-host and modify ClassQuiz</a:t>
            </a:r>
          </a:p>
          <a:p xmlns:a="http://schemas.openxmlformats.org/drawingml/2006/main">
            <a:pPr>
              <a:defRPr sz="2850" b="1">
                <a:solidFill>
                  <a:srgbClr val="E20074"/>
                </a:solidFill>
                <a:latin typeface="Arial"/>
                <a:ea typeface="Arial"/>
                <a:cs typeface="Arial"/>
              </a:defRPr>
            </a:pPr>
            <a:r>
              <a:rPr sz="2850" b="1">
                <a:solidFill>
                  <a:srgbClr val="E20074"/>
                </a:solidFill>
                <a:latin typeface="Arial"/>
                <a:ea typeface="Arial"/>
                <a:cs typeface="Arial"/>
              </a:rPr>
              <a:t>for internal company events.</a:t>
            </a:r>
          </a:p>
        </p:txBody>
      </p:sp>
      <p:sp>
        <p:nvSpPr>
          <p:cNvPr id="4" name="internal heading">
            <a:extLst xmlns:a="http://schemas.openxmlformats.org/drawingml/2006/main">
              <a:ext uri="{FF2B5EF4-FFF2-40B4-BE49-F238E27FC236}">
                <a16:creationId xmlns:a16="http://schemas.microsoft.com/office/drawing/2014/main" id="{F2386594-BE25-412C-AFAA-44B2A945C02E}"/>
              </a:ext>
            </a:extLst>
          </p:cNvPr>
          <p:cNvSpPr>
            <a:spLocks xmlns:a="http://schemas.openxmlformats.org/drawingml/2006/main" noGrp="1"/>
          </p:cNvSpPr>
          <p:nvPr/>
        </p:nvSpPr>
        <p:spPr>
          <a:xfrm xmlns:a="http://schemas.openxmlformats.org/drawingml/2006/main">
            <a:off x="666750" y="3124200"/>
            <a:ext cx="48196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Within the organization</a:t>
            </a:r>
          </a:p>
        </p:txBody>
      </p:sp>
      <p:sp>
        <p:nvSpPr>
          <p:cNvPr id="5" name="internal body">
            <a:extLst xmlns:a="http://schemas.openxmlformats.org/drawingml/2006/main">
              <a:ext uri="{FF2B5EF4-FFF2-40B4-BE49-F238E27FC236}">
                <a16:creationId xmlns:a16="http://schemas.microsoft.com/office/drawing/2014/main" id="{78C23B97-79CC-4D42-A623-49F74D4C8979}"/>
              </a:ext>
            </a:extLst>
          </p:cNvPr>
          <p:cNvSpPr>
            <a:spLocks xmlns:a="http://schemas.openxmlformats.org/drawingml/2006/main" noGrp="1"/>
          </p:cNvSpPr>
          <p:nvPr/>
        </p:nvSpPr>
        <p:spPr>
          <a:xfrm xmlns:a="http://schemas.openxmlformats.org/drawingml/2006/main">
            <a:off x="666750" y="3609975"/>
            <a:ext cx="48196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2124"/>
                </a:solidFill>
                <a:latin typeface="Arial"/>
                <a:ea typeface="Arial"/>
                <a:cs typeface="Arial"/>
              </a:defRPr>
            </a:pPr>
            <a:r>
              <a:rPr sz="2025" b="0">
                <a:solidFill>
                  <a:srgbClr val="202124"/>
                </a:solidFill>
                <a:latin typeface="Arial"/>
                <a:ea typeface="Arial"/>
                <a:cs typeface="Arial"/>
              </a:rPr>
              <a:t>Internal modifications do not have to be published publicly.</a:t>
            </a:r>
          </a:p>
        </p:txBody>
      </p:sp>
      <p:sp>
        <p:nvSpPr>
          <p:cNvPr id="6" name="external heading">
            <a:extLst xmlns:a="http://schemas.openxmlformats.org/drawingml/2006/main">
              <a:ext uri="{FF2B5EF4-FFF2-40B4-BE49-F238E27FC236}">
                <a16:creationId xmlns:a16="http://schemas.microsoft.com/office/drawing/2014/main" id="{96896E29-390B-4E46-941A-C00AAE0C08E9}"/>
              </a:ext>
            </a:extLst>
          </p:cNvPr>
          <p:cNvSpPr>
            <a:spLocks xmlns:a="http://schemas.openxmlformats.org/drawingml/2006/main" noGrp="1"/>
          </p:cNvSpPr>
          <p:nvPr/>
        </p:nvSpPr>
        <p:spPr>
          <a:xfrm xmlns:a="http://schemas.openxmlformats.org/drawingml/2006/main">
            <a:off x="6419850" y="3124200"/>
            <a:ext cx="4895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If we distribute it outside</a:t>
            </a:r>
          </a:p>
        </p:txBody>
      </p:sp>
      <p:sp>
        <p:nvSpPr>
          <p:cNvPr id="7" name="external body">
            <a:extLst xmlns:a="http://schemas.openxmlformats.org/drawingml/2006/main">
              <a:ext uri="{FF2B5EF4-FFF2-40B4-BE49-F238E27FC236}">
                <a16:creationId xmlns:a16="http://schemas.microsoft.com/office/drawing/2014/main" id="{7B13422A-26A1-4FD0-BB4F-BEB9D88C6B1A}"/>
              </a:ext>
            </a:extLst>
          </p:cNvPr>
          <p:cNvSpPr>
            <a:spLocks xmlns:a="http://schemas.openxmlformats.org/drawingml/2006/main" noGrp="1"/>
          </p:cNvSpPr>
          <p:nvPr/>
        </p:nvSpPr>
        <p:spPr>
          <a:xfrm xmlns:a="http://schemas.openxmlformats.org/drawingml/2006/main">
            <a:off x="6419850" y="3609975"/>
            <a:ext cx="48958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2124"/>
                </a:solidFill>
                <a:latin typeface="Arial"/>
                <a:ea typeface="Arial"/>
                <a:cs typeface="Arial"/>
              </a:defRPr>
            </a:pPr>
            <a:r>
              <a:rPr sz="2025" b="0">
                <a:solidFill>
                  <a:srgbClr val="202124"/>
                </a:solidFill>
                <a:latin typeface="Arial"/>
                <a:ea typeface="Arial"/>
                <a:cs typeface="Arial"/>
              </a:rPr>
              <a:t>Provide the covered source, including changes, to recipients under MPL terms.</a:t>
            </a:r>
          </a:p>
        </p:txBody>
      </p:sp>
      <p:sp>
        <p:nvSpPr>
          <p:cNvPr id="8" name="notice">
            <a:extLst xmlns:a="http://schemas.openxmlformats.org/drawingml/2006/main">
              <a:ext uri="{FF2B5EF4-FFF2-40B4-BE49-F238E27FC236}">
                <a16:creationId xmlns:a16="http://schemas.microsoft.com/office/drawing/2014/main" id="{278D7399-0A5B-4087-988B-0089C2EF4FDD}"/>
              </a:ext>
            </a:extLst>
          </p:cNvPr>
          <p:cNvSpPr>
            <a:spLocks xmlns:a="http://schemas.openxmlformats.org/drawingml/2006/main" noGrp="1"/>
          </p:cNvSpPr>
          <p:nvPr/>
        </p:nvSpPr>
        <p:spPr>
          <a:xfrm xmlns:a="http://schemas.openxmlformats.org/drawingml/2006/main">
            <a:off x="666750" y="55626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5C626B"/>
                </a:solidFill>
                <a:latin typeface="Arial"/>
                <a:ea typeface="Arial"/>
                <a:cs typeface="Arial"/>
              </a:defRPr>
            </a:pPr>
            <a:r>
              <a:rPr sz="1800" b="0">
                <a:solidFill>
                  <a:srgbClr val="5C626B"/>
                </a:solidFill>
                <a:latin typeface="Arial"/>
                <a:ea typeface="Arial"/>
                <a:cs typeface="Arial"/>
              </a:rPr>
              <a:t>Preserve license and copyright notices. Hosting and support still have a cost.</a:t>
            </a:r>
          </a:p>
        </p:txBody>
      </p:sp>
    </p:spTree>
    <p:extLst>
      <p:ext uri="{BB962C8B-B14F-4D97-AF65-F5344CB8AC3E}">
        <p14:creationId xmlns:p14="http://schemas.microsoft.com/office/powerpoint/2010/main" val="2024276167"/>
      </p:ext>
    </p:extLst>
  </p:cSld>
</p:sld>
</file>

<file path=ppt/slides/slide5.xml><?xml version="1.0" encoding="utf-8"?>
<p:sld xmlns:p="http://schemas.openxmlformats.org/presentationml/2006/main">
  <p:cSld>
    <p:bg>
      <p:bgPr>
        <a:solidFill xmlns:a="http://schemas.openxmlformats.org/drawingml/2006/main">
          <a:srgbClr val="202124"/>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7A10BEE6-C1A5-4136-BA75-68A9BDC18177}"/>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Entra ID sign-in needs integration work</a:t>
            </a:r>
          </a:p>
        </p:txBody>
      </p:sp>
      <p:sp>
        <p:nvSpPr>
          <p:cNvPr id="2" name="page">
            <a:extLst xmlns:a="http://schemas.openxmlformats.org/drawingml/2006/main">
              <a:ext uri="{FF2B5EF4-FFF2-40B4-BE49-F238E27FC236}">
                <a16:creationId xmlns:a16="http://schemas.microsoft.com/office/drawing/2014/main" id="{B664BAE5-D0E3-4717-AAD0-1479EE33D431}"/>
              </a:ext>
            </a:extLst>
          </p:cNvPr>
          <p:cNvSpPr>
            <a:spLocks xmlns:a="http://schemas.openxmlformats.org/drawingml/2006/main" noGrp="1"/>
          </p:cNvSpPr>
          <p:nvPr/>
        </p:nvSpPr>
        <p:spPr>
          <a:xfrm xmlns:a="http://schemas.openxmlformats.org/drawingml/2006/main">
            <a:off x="11144250" y="63150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Arial"/>
                <a:ea typeface="Arial"/>
                <a:cs typeface="Arial"/>
              </a:defRPr>
            </a:pPr>
            <a:r>
              <a:rPr sz="1275" b="0">
                <a:solidFill>
                  <a:srgbClr val="FFFFFF"/>
                </a:solidFill>
                <a:latin typeface="Arial"/>
                <a:ea typeface="Arial"/>
                <a:cs typeface="Arial"/>
              </a:rPr>
              <a:t>05</a:t>
            </a:r>
          </a:p>
        </p:txBody>
      </p:sp>
      <p:sp>
        <p:nvSpPr>
          <p:cNvPr id="3" name="route">
            <a:extLst xmlns:a="http://schemas.openxmlformats.org/drawingml/2006/main">
              <a:ext uri="{FF2B5EF4-FFF2-40B4-BE49-F238E27FC236}">
                <a16:creationId xmlns:a16="http://schemas.microsoft.com/office/drawing/2014/main" id="{3E603590-440A-4DEB-AABB-A16480309FAC}"/>
              </a:ext>
            </a:extLst>
          </p:cNvPr>
          <p:cNvSpPr>
            <a:spLocks xmlns:a="http://schemas.openxmlformats.org/drawingml/2006/main" noGrp="1"/>
          </p:cNvSpPr>
          <p:nvPr/>
        </p:nvSpPr>
        <p:spPr>
          <a:xfrm xmlns:a="http://schemas.openxmlformats.org/drawingml/2006/main">
            <a:off x="666750" y="16478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FFFFFF"/>
                </a:solidFill>
                <a:latin typeface="Arial"/>
                <a:ea typeface="Arial"/>
                <a:cs typeface="Arial"/>
              </a:defRPr>
            </a:pPr>
            <a:r>
              <a:rPr sz="2775" b="1">
                <a:solidFill>
                  <a:srgbClr val="FFFFFF"/>
                </a:solidFill>
                <a:latin typeface="Arial"/>
                <a:ea typeface="Arial"/>
                <a:cs typeface="Arial"/>
              </a:rPr>
              <a:t>The foundation exists: OpenID Connect</a:t>
            </a:r>
          </a:p>
        </p:txBody>
      </p:sp>
      <p:sp>
        <p:nvSpPr>
          <p:cNvPr id="4" name="standard heading">
            <a:extLst xmlns:a="http://schemas.openxmlformats.org/drawingml/2006/main">
              <a:ext uri="{FF2B5EF4-FFF2-40B4-BE49-F238E27FC236}">
                <a16:creationId xmlns:a16="http://schemas.microsoft.com/office/drawing/2014/main" id="{C0586803-89A6-4D2C-85D4-9F7665FD24B6}"/>
              </a:ext>
            </a:extLst>
          </p:cNvPr>
          <p:cNvSpPr>
            <a:spLocks xmlns:a="http://schemas.openxmlformats.org/drawingml/2006/main" noGrp="1"/>
          </p:cNvSpPr>
          <p:nvPr/>
        </p:nvSpPr>
        <p:spPr>
          <a:xfrm xmlns:a="http://schemas.openxmlformats.org/drawingml/2006/main">
            <a:off x="666750" y="2857500"/>
            <a:ext cx="4876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FF69B4"/>
                </a:solidFill>
                <a:latin typeface="Arial"/>
                <a:ea typeface="Arial"/>
                <a:cs typeface="Arial"/>
              </a:defRPr>
            </a:pPr>
            <a:r>
              <a:rPr sz="2250" b="1">
                <a:solidFill>
                  <a:srgbClr val="FF69B4"/>
                </a:solidFill>
                <a:latin typeface="Arial"/>
                <a:ea typeface="Arial"/>
                <a:cs typeface="Arial"/>
              </a:rPr>
              <a:t>ClassQuiz supports custom OpenID login</a:t>
            </a:r>
          </a:p>
        </p:txBody>
      </p:sp>
      <p:sp>
        <p:nvSpPr>
          <p:cNvPr id="5" name="standard body">
            <a:extLst xmlns:a="http://schemas.openxmlformats.org/drawingml/2006/main">
              <a:ext uri="{FF2B5EF4-FFF2-40B4-BE49-F238E27FC236}">
                <a16:creationId xmlns:a16="http://schemas.microsoft.com/office/drawing/2014/main" id="{871C090A-8976-43D3-A7D0-1F41A48951EE}"/>
              </a:ext>
            </a:extLst>
          </p:cNvPr>
          <p:cNvSpPr>
            <a:spLocks xmlns:a="http://schemas.openxmlformats.org/drawingml/2006/main" noGrp="1"/>
          </p:cNvSpPr>
          <p:nvPr/>
        </p:nvSpPr>
        <p:spPr>
          <a:xfrm xmlns:a="http://schemas.openxmlformats.org/drawingml/2006/main">
            <a:off x="666750" y="3343275"/>
            <a:ext cx="48768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Microsoft Entra ID supports the same sign-in standard, including SSO.</a:t>
            </a:r>
          </a:p>
        </p:txBody>
      </p:sp>
      <p:sp>
        <p:nvSpPr>
          <p:cNvPr id="6" name="work heading">
            <a:extLst xmlns:a="http://schemas.openxmlformats.org/drawingml/2006/main">
              <a:ext uri="{FF2B5EF4-FFF2-40B4-BE49-F238E27FC236}">
                <a16:creationId xmlns:a16="http://schemas.microsoft.com/office/drawing/2014/main" id="{2E59A049-12C0-4ABD-AA83-B6B0B6F719B7}"/>
              </a:ext>
            </a:extLst>
          </p:cNvPr>
          <p:cNvSpPr>
            <a:spLocks xmlns:a="http://schemas.openxmlformats.org/drawingml/2006/main" noGrp="1"/>
          </p:cNvSpPr>
          <p:nvPr/>
        </p:nvSpPr>
        <p:spPr>
          <a:xfrm xmlns:a="http://schemas.openxmlformats.org/drawingml/2006/main">
            <a:off x="6429375" y="2857500"/>
            <a:ext cx="48672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FF69B4"/>
                </a:solidFill>
                <a:latin typeface="Arial"/>
                <a:ea typeface="Arial"/>
                <a:cs typeface="Arial"/>
              </a:defRPr>
            </a:pPr>
            <a:r>
              <a:rPr sz="2250" b="1">
                <a:solidFill>
                  <a:srgbClr val="FF69B4"/>
                </a:solidFill>
                <a:latin typeface="Arial"/>
                <a:ea typeface="Arial"/>
                <a:cs typeface="Arial"/>
              </a:rPr>
              <a:t>This version needs adaptation and testing</a:t>
            </a:r>
          </a:p>
        </p:txBody>
      </p:sp>
      <p:sp>
        <p:nvSpPr>
          <p:cNvPr id="7" name="work body">
            <a:extLst xmlns:a="http://schemas.openxmlformats.org/drawingml/2006/main">
              <a:ext uri="{FF2B5EF4-FFF2-40B4-BE49-F238E27FC236}">
                <a16:creationId xmlns:a16="http://schemas.microsoft.com/office/drawing/2014/main" id="{06C5708E-FCB6-4A7D-92C4-115EC8167C4D}"/>
              </a:ext>
            </a:extLst>
          </p:cNvPr>
          <p:cNvSpPr>
            <a:spLocks xmlns:a="http://schemas.openxmlformats.org/drawingml/2006/main" noGrp="1"/>
          </p:cNvSpPr>
          <p:nvPr/>
        </p:nvSpPr>
        <p:spPr>
          <a:xfrm xmlns:a="http://schemas.openxmlformats.org/drawingml/2006/main">
            <a:off x="6429375" y="3343275"/>
            <a:ext cx="48672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Its identity-field assumptions do not match everything Entra guarantees.</a:t>
            </a:r>
          </a:p>
        </p:txBody>
      </p:sp>
      <p:sp>
        <p:nvSpPr>
          <p:cNvPr id="8" name="sso definition">
            <a:extLst xmlns:a="http://schemas.openxmlformats.org/drawingml/2006/main">
              <a:ext uri="{FF2B5EF4-FFF2-40B4-BE49-F238E27FC236}">
                <a16:creationId xmlns:a16="http://schemas.microsoft.com/office/drawing/2014/main" id="{BF32CDA4-A64A-4E0E-B055-6E6D17EE9532}"/>
              </a:ext>
            </a:extLst>
          </p:cNvPr>
          <p:cNvSpPr>
            <a:spLocks xmlns:a="http://schemas.openxmlformats.org/drawingml/2006/main" noGrp="1"/>
          </p:cNvSpPr>
          <p:nvPr/>
        </p:nvSpPr>
        <p:spPr>
          <a:xfrm xmlns:a="http://schemas.openxmlformats.org/drawingml/2006/main">
            <a:off x="666750" y="537210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SSO means using the company sign-in. It still needs IT configuration and validation.</a:t>
            </a:r>
          </a:p>
        </p:txBody>
      </p:sp>
    </p:spTree>
    <p:extLst>
      <p:ext uri="{BB962C8B-B14F-4D97-AF65-F5344CB8AC3E}">
        <p14:creationId xmlns:p14="http://schemas.microsoft.com/office/powerpoint/2010/main" val="61271804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1B7BF5E-7EBD-4918-A77D-7C5C28133A3E}"/>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02124"/>
                </a:solidFill>
                <a:latin typeface="Arial"/>
                <a:ea typeface="Arial"/>
                <a:cs typeface="Arial"/>
              </a:defRPr>
            </a:pPr>
            <a:r>
              <a:rPr sz="3450" b="1">
                <a:solidFill>
                  <a:srgbClr val="202124"/>
                </a:solidFill>
                <a:latin typeface="Arial"/>
                <a:ea typeface="Arial"/>
                <a:cs typeface="Arial"/>
              </a:rPr>
              <a:t>The technology in plain language</a:t>
            </a:r>
          </a:p>
        </p:txBody>
      </p:sp>
      <p:sp>
        <p:nvSpPr>
          <p:cNvPr id="2" name="page">
            <a:extLst xmlns:a="http://schemas.openxmlformats.org/drawingml/2006/main">
              <a:ext uri="{FF2B5EF4-FFF2-40B4-BE49-F238E27FC236}">
                <a16:creationId xmlns:a16="http://schemas.microsoft.com/office/drawing/2014/main" id="{9E3F699D-B862-4B5B-A9A3-7E6D08E45138}"/>
              </a:ext>
            </a:extLst>
          </p:cNvPr>
          <p:cNvSpPr>
            <a:spLocks xmlns:a="http://schemas.openxmlformats.org/drawingml/2006/main" noGrp="1"/>
          </p:cNvSpPr>
          <p:nvPr/>
        </p:nvSpPr>
        <p:spPr>
          <a:xfrm xmlns:a="http://schemas.openxmlformats.org/drawingml/2006/main">
            <a:off x="11144250" y="63150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26B"/>
                </a:solidFill>
                <a:latin typeface="Arial"/>
                <a:ea typeface="Arial"/>
                <a:cs typeface="Arial"/>
              </a:defRPr>
            </a:pPr>
            <a:r>
              <a:rPr sz="1275" b="0">
                <a:solidFill>
                  <a:srgbClr val="5C626B"/>
                </a:solidFill>
                <a:latin typeface="Arial"/>
                <a:ea typeface="Arial"/>
                <a:cs typeface="Arial"/>
              </a:rPr>
              <a:t>06</a:t>
            </a:r>
          </a:p>
        </p:txBody>
      </p:sp>
      <p:graphicFrame>
        <p:nvGraphicFramePr>
          <p:cNvPr id="7" name=""/>
          <p:cNvGraphicFramePr/>
          <p:nvPr/>
        </p:nvGraphicFramePr>
        <p:xfrm>
          <a:off xmlns:a="http://schemas.openxmlformats.org/drawingml/2006/main" x="666750" y="1628775"/>
          <a:ext xmlns:a="http://schemas.openxmlformats.org/drawingml/2006/main" cx="10858500" cy="3857625"/>
        </p:xfrm>
        <a:graphic xmlns:a="http://schemas.openxmlformats.org/drawingml/2006/main">
          <a:graphicData uri="http://schemas.openxmlformats.org/drawingml/2006/table">
            <a:tbl>
              <a:tblPr/>
              <a:tblGrid>
                <a:gridCol w="2381250"/>
                <a:gridCol w="4667250"/>
                <a:gridCol w="3810000"/>
              </a:tblGrid>
              <a:tr h="771525">
                <a:tc>
                  <a:txBody>
                    <a:bodyPr lIns="133350" tIns="114300" rIns="133350" bIns="114300"/>
                    <a:lstStyle/>
                    <a:p>
                      <a:r>
                        <a:rPr sz="1875" b="1">
                          <a:solidFill>
                            <a:srgbClr val="FFFFFF"/>
                          </a:solidFill>
                          <a:latin typeface="Arial"/>
                          <a:ea typeface="Arial"/>
                          <a:cs typeface="Arial"/>
                        </a:rPr>
                        <a:t>Part</a:t>
                      </a:r>
                    </a:p>
                  </a:txBody>
                  <a:tcPr marL="91440" marR="91440" marT="45720" marB="45720" anchor="ctr">
                    <a:solidFill>
                      <a:srgbClr val="202124"/>
                    </a:solidFill>
                  </a:tcPr>
                </a:tc>
                <a:tc>
                  <a:txBody>
                    <a:bodyPr lIns="133350" tIns="114300" rIns="133350" bIns="114300"/>
                    <a:lstStyle/>
                    <a:p>
                      <a:r>
                        <a:rPr sz="1875" b="1">
                          <a:solidFill>
                            <a:srgbClr val="FFFFFF"/>
                          </a:solidFill>
                          <a:latin typeface="Arial"/>
                          <a:ea typeface="Arial"/>
                          <a:cs typeface="Arial"/>
                        </a:rPr>
                        <a:t>What it does</a:t>
                      </a:r>
                    </a:p>
                  </a:txBody>
                  <a:tcPr marL="91440" marR="91440" marT="45720" marB="45720" anchor="ctr">
                    <a:solidFill>
                      <a:srgbClr val="202124"/>
                    </a:solidFill>
                  </a:tcPr>
                </a:tc>
                <a:tc>
                  <a:txBody>
                    <a:bodyPr lIns="133350" tIns="114300" rIns="133350" bIns="114300"/>
                    <a:lstStyle/>
                    <a:p>
                      <a:r>
                        <a:rPr sz="1875" b="1">
                          <a:solidFill>
                            <a:srgbClr val="FFFFFF"/>
                          </a:solidFill>
                          <a:latin typeface="Arial"/>
                          <a:ea typeface="Arial"/>
                          <a:cs typeface="Arial"/>
                        </a:rPr>
                        <a:t>Technology</a:t>
                      </a:r>
                    </a:p>
                  </a:txBody>
                  <a:tcPr marL="91440" marR="91440" marT="45720" marB="45720" anchor="ctr">
                    <a:solidFill>
                      <a:srgbClr val="202124"/>
                    </a:solidFill>
                  </a:tcPr>
                </a:tc>
              </a:tr>
              <a:tr h="771525">
                <a:tc>
                  <a:txBody>
                    <a:bodyPr lIns="133350" tIns="114300" rIns="133350" bIns="114300"/>
                    <a:lstStyle/>
                    <a:p>
                      <a:r>
                        <a:rPr sz="1800" b="1">
                          <a:solidFill>
                            <a:srgbClr val="202124"/>
                          </a:solidFill>
                          <a:latin typeface="Arial"/>
                          <a:ea typeface="Arial"/>
                          <a:cs typeface="Arial"/>
                        </a:rPr>
                        <a:t>Browser interface</a:t>
                      </a:r>
                    </a:p>
                  </a:txBody>
                  <a:tcPr marL="91440" marR="91440" marT="45720" marB="45720" anchor="ctr">
                    <a:solidFill>
                      <a:srgbClr val="F3F3F5"/>
                    </a:solidFill>
                  </a:tcPr>
                </a:tc>
                <a:tc>
                  <a:txBody>
                    <a:bodyPr lIns="133350" tIns="114300" rIns="133350" bIns="114300"/>
                    <a:lstStyle/>
                    <a:p>
                      <a:r>
                        <a:rPr sz="1800" b="0">
                          <a:solidFill>
                            <a:srgbClr val="202124"/>
                          </a:solidFill>
                          <a:latin typeface="Arial"/>
                          <a:ea typeface="Arial"/>
                          <a:cs typeface="Arial"/>
                        </a:rPr>
                        <a:t>Shows the quiz editor and</a:t>
                      </a:r>
                    </a:p>
                    <a:p>
                      <a:r>
                        <a:rPr sz="1800" b="0">
                          <a:solidFill>
                            <a:srgbClr val="202124"/>
                          </a:solidFill>
                          <a:latin typeface="Arial"/>
                          <a:ea typeface="Arial"/>
                          <a:cs typeface="Arial"/>
                        </a:rPr>
                        <a:t>participant screens</a:t>
                      </a:r>
                    </a:p>
                  </a:txBody>
                  <a:tcPr marL="91440" marR="91440" marT="45720" marB="45720" anchor="ctr">
                    <a:solidFill>
                      <a:srgbClr val="F3F3F5"/>
                    </a:solidFill>
                  </a:tcPr>
                </a:tc>
                <a:tc>
                  <a:txBody>
                    <a:bodyPr lIns="133350" tIns="114300" rIns="133350" bIns="114300"/>
                    <a:lstStyle/>
                    <a:p>
                      <a:r>
                        <a:rPr sz="1800" b="0">
                          <a:solidFill>
                            <a:srgbClr val="202124"/>
                          </a:solidFill>
                          <a:latin typeface="Arial"/>
                          <a:ea typeface="Arial"/>
                          <a:cs typeface="Arial"/>
                        </a:rPr>
                        <a:t>SvelteKit / TypeScript</a:t>
                      </a:r>
                    </a:p>
                    <a:p>
                      <a:r>
                        <a:rPr sz="1800" b="0">
                          <a:solidFill>
                            <a:srgbClr val="202124"/>
                          </a:solidFill>
                          <a:latin typeface="Arial"/>
                          <a:ea typeface="Arial"/>
                          <a:cs typeface="Arial"/>
                        </a:rPr>
                        <a:t>Tailwind CSS</a:t>
                      </a:r>
                    </a:p>
                  </a:txBody>
                  <a:tcPr marL="91440" marR="91440" marT="45720" marB="45720" anchor="ctr">
                    <a:solidFill>
                      <a:srgbClr val="F3F3F5"/>
                    </a:solidFill>
                  </a:tcPr>
                </a:tc>
              </a:tr>
              <a:tr h="771525">
                <a:tc>
                  <a:txBody>
                    <a:bodyPr lIns="133350" tIns="114300" rIns="133350" bIns="114300"/>
                    <a:lstStyle/>
                    <a:p>
                      <a:r>
                        <a:rPr sz="1800" b="1">
                          <a:solidFill>
                            <a:srgbClr val="202124"/>
                          </a:solidFill>
                          <a:latin typeface="Arial"/>
                          <a:ea typeface="Arial"/>
                          <a:cs typeface="Arial"/>
                        </a:rPr>
                        <a:t>Quiz engine</a:t>
                      </a:r>
                    </a:p>
                  </a:txBody>
                  <a:tcPr marL="91440" marR="91440" marT="45720" marB="45720" anchor="ctr">
                    <a:solidFill>
                      <a:srgbClr val="FFFFFF"/>
                    </a:solidFill>
                  </a:tcPr>
                </a:tc>
                <a:tc>
                  <a:txBody>
                    <a:bodyPr lIns="133350" tIns="114300" rIns="133350" bIns="114300"/>
                    <a:lstStyle/>
                    <a:p>
                      <a:r>
                        <a:rPr sz="1800" b="0">
                          <a:solidFill>
                            <a:srgbClr val="202124"/>
                          </a:solidFill>
                          <a:latin typeface="Arial"/>
                          <a:ea typeface="Arial"/>
                          <a:cs typeface="Arial"/>
                        </a:rPr>
                        <a:t>Runs the game and exchanges</a:t>
                      </a:r>
                    </a:p>
                    <a:p>
                      <a:r>
                        <a:rPr sz="1800" b="0">
                          <a:solidFill>
                            <a:srgbClr val="202124"/>
                          </a:solidFill>
                          <a:latin typeface="Arial"/>
                          <a:ea typeface="Arial"/>
                          <a:cs typeface="Arial"/>
                        </a:rPr>
                        <a:t>live answers</a:t>
                      </a:r>
                    </a:p>
                  </a:txBody>
                  <a:tcPr marL="91440" marR="91440" marT="45720" marB="45720" anchor="ctr">
                    <a:solidFill>
                      <a:srgbClr val="FFFFFF"/>
                    </a:solidFill>
                  </a:tcPr>
                </a:tc>
                <a:tc>
                  <a:txBody>
                    <a:bodyPr lIns="133350" tIns="114300" rIns="133350" bIns="114300"/>
                    <a:lstStyle/>
                    <a:p>
                      <a:r>
                        <a:rPr sz="1800" b="0">
                          <a:solidFill>
                            <a:srgbClr val="202124"/>
                          </a:solidFill>
                          <a:latin typeface="Arial"/>
                          <a:ea typeface="Arial"/>
                          <a:cs typeface="Arial"/>
                        </a:rPr>
                        <a:t>Python / FastAPI</a:t>
                      </a:r>
                    </a:p>
                    <a:p>
                      <a:r>
                        <a:rPr sz="1800" b="0">
                          <a:solidFill>
                            <a:srgbClr val="202124"/>
                          </a:solidFill>
                          <a:latin typeface="Arial"/>
                          <a:ea typeface="Arial"/>
                          <a:cs typeface="Arial"/>
                        </a:rPr>
                        <a:t>Socket.IO</a:t>
                      </a:r>
                    </a:p>
                  </a:txBody>
                  <a:tcPr marL="91440" marR="91440" marT="45720" marB="45720" anchor="ctr">
                    <a:solidFill>
                      <a:srgbClr val="FFFFFF"/>
                    </a:solidFill>
                  </a:tcPr>
                </a:tc>
              </a:tr>
              <a:tr h="771525">
                <a:tc>
                  <a:txBody>
                    <a:bodyPr lIns="133350" tIns="114300" rIns="133350" bIns="114300"/>
                    <a:lstStyle/>
                    <a:p>
                      <a:r>
                        <a:rPr sz="1800" b="1">
                          <a:solidFill>
                            <a:srgbClr val="202124"/>
                          </a:solidFill>
                          <a:latin typeface="Arial"/>
                          <a:ea typeface="Arial"/>
                          <a:cs typeface="Arial"/>
                        </a:rPr>
                        <a:t>Data services</a:t>
                      </a:r>
                    </a:p>
                  </a:txBody>
                  <a:tcPr marL="91440" marR="91440" marT="45720" marB="45720" anchor="ctr">
                    <a:solidFill>
                      <a:srgbClr val="F3F3F5"/>
                    </a:solidFill>
                  </a:tcPr>
                </a:tc>
                <a:tc>
                  <a:txBody>
                    <a:bodyPr lIns="133350" tIns="114300" rIns="133350" bIns="114300"/>
                    <a:lstStyle/>
                    <a:p>
                      <a:r>
                        <a:rPr sz="1800" b="0">
                          <a:solidFill>
                            <a:srgbClr val="202124"/>
                          </a:solidFill>
                          <a:latin typeface="Arial"/>
                          <a:ea typeface="Arial"/>
                          <a:cs typeface="Arial"/>
                        </a:rPr>
                        <a:t>Save quizzes and accounts, hold</a:t>
                      </a:r>
                    </a:p>
                    <a:p>
                      <a:r>
                        <a:rPr sz="1800" b="0">
                          <a:solidFill>
                            <a:srgbClr val="202124"/>
                          </a:solidFill>
                          <a:latin typeface="Arial"/>
                          <a:ea typeface="Arial"/>
                          <a:cs typeface="Arial"/>
                        </a:rPr>
                        <a:t>session state and search content</a:t>
                      </a:r>
                    </a:p>
                  </a:txBody>
                  <a:tcPr marL="91440" marR="91440" marT="45720" marB="45720" anchor="ctr">
                    <a:solidFill>
                      <a:srgbClr val="F3F3F5"/>
                    </a:solidFill>
                  </a:tcPr>
                </a:tc>
                <a:tc>
                  <a:txBody>
                    <a:bodyPr lIns="133350" tIns="114300" rIns="133350" bIns="114300"/>
                    <a:lstStyle/>
                    <a:p>
                      <a:r>
                        <a:rPr sz="1800" b="0">
                          <a:solidFill>
                            <a:srgbClr val="202124"/>
                          </a:solidFill>
                          <a:latin typeface="Arial"/>
                          <a:ea typeface="Arial"/>
                          <a:cs typeface="Arial"/>
                        </a:rPr>
                        <a:t>PostgreSQL / Valkey</a:t>
                      </a:r>
                    </a:p>
                    <a:p>
                      <a:r>
                        <a:rPr sz="1800" b="0">
                          <a:solidFill>
                            <a:srgbClr val="202124"/>
                          </a:solidFill>
                          <a:latin typeface="Arial"/>
                          <a:ea typeface="Arial"/>
                          <a:cs typeface="Arial"/>
                        </a:rPr>
                        <a:t>Meilisearch</a:t>
                      </a:r>
                    </a:p>
                  </a:txBody>
                  <a:tcPr marL="91440" marR="91440" marT="45720" marB="45720" anchor="ctr">
                    <a:solidFill>
                      <a:srgbClr val="F3F3F5"/>
                    </a:solidFill>
                  </a:tcPr>
                </a:tc>
              </a:tr>
              <a:tr h="771525">
                <a:tc>
                  <a:txBody>
                    <a:bodyPr lIns="133350" tIns="114300" rIns="133350" bIns="114300"/>
                    <a:lstStyle/>
                    <a:p>
                      <a:r>
                        <a:rPr sz="1800" b="1">
                          <a:solidFill>
                            <a:srgbClr val="202124"/>
                          </a:solidFill>
                          <a:latin typeface="Arial"/>
                          <a:ea typeface="Arial"/>
                          <a:cs typeface="Arial"/>
                        </a:rPr>
                        <a:t>Hosting</a:t>
                      </a:r>
                    </a:p>
                  </a:txBody>
                  <a:tcPr marL="91440" marR="91440" marT="45720" marB="45720" anchor="ctr">
                    <a:solidFill>
                      <a:srgbClr val="FFFFFF"/>
                    </a:solidFill>
                  </a:tcPr>
                </a:tc>
                <a:tc>
                  <a:txBody>
                    <a:bodyPr lIns="133350" tIns="114300" rIns="133350" bIns="114300"/>
                    <a:lstStyle/>
                    <a:p>
                      <a:r>
                        <a:rPr sz="1800" b="0">
                          <a:solidFill>
                            <a:srgbClr val="202124"/>
                          </a:solidFill>
                          <a:latin typeface="Arial"/>
                          <a:ea typeface="Arial"/>
                          <a:cs typeface="Arial"/>
                        </a:rPr>
                        <a:t>Runs the services and serves</a:t>
                      </a:r>
                    </a:p>
                    <a:p>
                      <a:r>
                        <a:rPr sz="1800" b="0">
                          <a:solidFill>
                            <a:srgbClr val="202124"/>
                          </a:solidFill>
                          <a:latin typeface="Arial"/>
                          <a:ea typeface="Arial"/>
                          <a:cs typeface="Arial"/>
                        </a:rPr>
                        <a:t>images over a secure connection</a:t>
                      </a:r>
                    </a:p>
                  </a:txBody>
                  <a:tcPr marL="91440" marR="91440" marT="45720" marB="45720" anchor="ctr">
                    <a:solidFill>
                      <a:srgbClr val="FFFFFF"/>
                    </a:solidFill>
                  </a:tcPr>
                </a:tc>
                <a:tc>
                  <a:txBody>
                    <a:bodyPr lIns="133350" tIns="114300" rIns="133350" bIns="114300"/>
                    <a:lstStyle/>
                    <a:p>
                      <a:r>
                        <a:rPr sz="1800" b="0">
                          <a:solidFill>
                            <a:srgbClr val="202124"/>
                          </a:solidFill>
                          <a:latin typeface="Arial"/>
                          <a:ea typeface="Arial"/>
                          <a:cs typeface="Arial"/>
                        </a:rPr>
                        <a:t>Docker Compose</a:t>
                      </a:r>
                    </a:p>
                    <a:p>
                      <a:r>
                        <a:rPr sz="1800" b="0">
                          <a:solidFill>
                            <a:srgbClr val="202124"/>
                          </a:solidFill>
                          <a:latin typeface="Arial"/>
                          <a:ea typeface="Arial"/>
                          <a:cs typeface="Arial"/>
                        </a:rPr>
                        <a:t>File or S3 storage / HTTPS</a:t>
                      </a:r>
                    </a:p>
                  </a:txBody>
                  <a:tcPr marL="91440" marR="91440" marT="45720" marB="45720" anchor="ctr">
                    <a:solidFill>
                      <a:srgbClr val="FFFFFF"/>
                    </a:solidFill>
                  </a:tcPr>
                </a:tc>
              </a:tr>
            </a:tbl>
          </a:graphicData>
        </a:graphic>
      </p:graphicFrame>
      <p:sp>
        <p:nvSpPr>
          <p:cNvPr id="4" name="hosting implication">
            <a:extLst xmlns:a="http://schemas.openxmlformats.org/drawingml/2006/main">
              <a:ext uri="{FF2B5EF4-FFF2-40B4-BE49-F238E27FC236}">
                <a16:creationId xmlns:a16="http://schemas.microsoft.com/office/drawing/2014/main" id="{F0A37F9F-C211-4506-A7F8-72453CF07E32}"/>
              </a:ext>
            </a:extLst>
          </p:cNvPr>
          <p:cNvSpPr>
            <a:spLocks xmlns:a="http://schemas.openxmlformats.org/drawingml/2006/main" noGrp="1"/>
          </p:cNvSpPr>
          <p:nvPr/>
        </p:nvSpPr>
        <p:spPr>
          <a:xfrm xmlns:a="http://schemas.openxmlformats.org/drawingml/2006/main">
            <a:off x="666750" y="5772150"/>
            <a:ext cx="10382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E20074"/>
                </a:solidFill>
                <a:latin typeface="Arial"/>
                <a:ea typeface="Arial"/>
                <a:cs typeface="Arial"/>
              </a:defRPr>
            </a:pPr>
            <a:r>
              <a:rPr sz="1950" b="1">
                <a:solidFill>
                  <a:srgbClr val="E20074"/>
                </a:solidFill>
                <a:latin typeface="Arial"/>
                <a:ea typeface="Arial"/>
                <a:cs typeface="Arial"/>
              </a:rPr>
              <a:t>IT operates a group of services on approved company infrastructure.</a:t>
            </a:r>
          </a:p>
        </p:txBody>
      </p:sp>
    </p:spTree>
    <p:extLst>
      <p:ext uri="{BB962C8B-B14F-4D97-AF65-F5344CB8AC3E}">
        <p14:creationId xmlns:p14="http://schemas.microsoft.com/office/powerpoint/2010/main" val="39908495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72C609BF-C0D7-4A95-B772-A2F080A17B18}"/>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02124"/>
                </a:solidFill>
                <a:latin typeface="Arial"/>
                <a:ea typeface="Arial"/>
                <a:cs typeface="Arial"/>
              </a:defRPr>
            </a:pPr>
            <a:r>
              <a:rPr sz="3450" b="1">
                <a:solidFill>
                  <a:srgbClr val="202124"/>
                </a:solidFill>
                <a:latin typeface="Arial"/>
                <a:ea typeface="Arial"/>
                <a:cs typeface="Arial"/>
              </a:rPr>
              <a:t>A Telekom theme is feasible</a:t>
            </a:r>
          </a:p>
        </p:txBody>
      </p:sp>
      <p:sp>
        <p:nvSpPr>
          <p:cNvPr id="2" name="page">
            <a:extLst xmlns:a="http://schemas.openxmlformats.org/drawingml/2006/main">
              <a:ext uri="{FF2B5EF4-FFF2-40B4-BE49-F238E27FC236}">
                <a16:creationId xmlns:a16="http://schemas.microsoft.com/office/drawing/2014/main" id="{06ED61C2-E92C-4178-A6A7-35FDACFDBC53}"/>
              </a:ext>
            </a:extLst>
          </p:cNvPr>
          <p:cNvSpPr>
            <a:spLocks xmlns:a="http://schemas.openxmlformats.org/drawingml/2006/main" noGrp="1"/>
          </p:cNvSpPr>
          <p:nvPr/>
        </p:nvSpPr>
        <p:spPr>
          <a:xfrm xmlns:a="http://schemas.openxmlformats.org/drawingml/2006/main">
            <a:off x="11144250" y="63150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26B"/>
                </a:solidFill>
                <a:latin typeface="Arial"/>
                <a:ea typeface="Arial"/>
                <a:cs typeface="Arial"/>
              </a:defRPr>
            </a:pPr>
            <a:r>
              <a:rPr sz="1275" b="0">
                <a:solidFill>
                  <a:srgbClr val="5C626B"/>
                </a:solidFill>
                <a:latin typeface="Arial"/>
                <a:ea typeface="Arial"/>
                <a:cs typeface="Arial"/>
              </a:rPr>
              <a:t>07</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850410c6ad74689"/>
          <a:stretch xmlns:a="http://schemas.openxmlformats.org/drawingml/2006/main"/>
        </p:blipFill>
        <p:spPr>
          <a:xfrm xmlns:a="http://schemas.openxmlformats.org/drawingml/2006/main">
            <a:off x="666750" y="1849562"/>
            <a:ext cx="6191250" cy="2873127"/>
          </a:xfrm>
          <a:prstGeom xmlns:a="http://schemas.openxmlformats.org/drawingml/2006/main" prst="rect">
            <a:avLst/>
          </a:prstGeom>
        </p:spPr>
      </p:pic>
      <p:sp>
        <p:nvSpPr>
          <p:cNvPr id="4" name="caption">
            <a:extLst xmlns:a="http://schemas.openxmlformats.org/drawingml/2006/main">
              <a:ext uri="{FF2B5EF4-FFF2-40B4-BE49-F238E27FC236}">
                <a16:creationId xmlns:a16="http://schemas.microsoft.com/office/drawing/2014/main" id="{10DF5E8A-9728-44AD-8CF7-E4675DE9C83C}"/>
              </a:ext>
            </a:extLst>
          </p:cNvPr>
          <p:cNvSpPr>
            <a:spLocks xmlns:a="http://schemas.openxmlformats.org/drawingml/2006/main" noGrp="1"/>
          </p:cNvSpPr>
          <p:nvPr/>
        </p:nvSpPr>
        <p:spPr>
          <a:xfrm xmlns:a="http://schemas.openxmlformats.org/drawingml/2006/main">
            <a:off x="666750" y="5067300"/>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C626B"/>
                </a:solidFill>
                <a:latin typeface="Arial"/>
                <a:ea typeface="Arial"/>
                <a:cs typeface="Arial"/>
              </a:defRPr>
            </a:pPr>
            <a:r>
              <a:rPr sz="1575" b="0">
                <a:solidFill>
                  <a:srgbClr val="5C626B"/>
                </a:solidFill>
                <a:latin typeface="Arial"/>
                <a:ea typeface="Arial"/>
                <a:cs typeface="Arial"/>
              </a:rPr>
              <a:t>Original project styling</a:t>
            </a:r>
          </a:p>
        </p:txBody>
      </p:sp>
      <p:sp>
        <p:nvSpPr>
          <p:cNvPr id="5" name="easy heading">
            <a:extLst xmlns:a="http://schemas.openxmlformats.org/drawingml/2006/main">
              <a:ext uri="{FF2B5EF4-FFF2-40B4-BE49-F238E27FC236}">
                <a16:creationId xmlns:a16="http://schemas.microsoft.com/office/drawing/2014/main" id="{D66A0A0D-95F3-4DFA-967A-4CBE960CB01B}"/>
              </a:ext>
            </a:extLst>
          </p:cNvPr>
          <p:cNvSpPr>
            <a:spLocks xmlns:a="http://schemas.openxmlformats.org/drawingml/2006/main" noGrp="1"/>
          </p:cNvSpPr>
          <p:nvPr/>
        </p:nvSpPr>
        <p:spPr>
          <a:xfrm xmlns:a="http://schemas.openxmlformats.org/drawingml/2006/main">
            <a:off x="7429500" y="1685925"/>
            <a:ext cx="40862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A basic recolor is a modest frontend task</a:t>
            </a:r>
          </a:p>
        </p:txBody>
      </p:sp>
      <p:sp>
        <p:nvSpPr>
          <p:cNvPr id="6" name="easy body">
            <a:extLst xmlns:a="http://schemas.openxmlformats.org/drawingml/2006/main">
              <a:ext uri="{FF2B5EF4-FFF2-40B4-BE49-F238E27FC236}">
                <a16:creationId xmlns:a16="http://schemas.microsoft.com/office/drawing/2014/main" id="{DAE6DAA2-B513-48CA-ADE5-AF782BEB5281}"/>
              </a:ext>
            </a:extLst>
          </p:cNvPr>
          <p:cNvSpPr>
            <a:spLocks xmlns:a="http://schemas.openxmlformats.org/drawingml/2006/main" noGrp="1"/>
          </p:cNvSpPr>
          <p:nvPr/>
        </p:nvSpPr>
        <p:spPr>
          <a:xfrm xmlns:a="http://schemas.openxmlformats.org/drawingml/2006/main">
            <a:off x="7429500" y="2171700"/>
            <a:ext cx="40862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02124"/>
                </a:solidFill>
                <a:latin typeface="Arial"/>
                <a:ea typeface="Arial"/>
                <a:cs typeface="Arial"/>
              </a:defRPr>
            </a:pPr>
            <a:r>
              <a:rPr sz="1875" b="0">
                <a:solidFill>
                  <a:srgbClr val="202124"/>
                </a:solidFill>
                <a:latin typeface="Arial"/>
                <a:ea typeface="Arial"/>
                <a:cs typeface="Arial"/>
              </a:rPr>
              <a:t>Shared Svelte components and Tailwind/CSS styles provide a starting point.</a:t>
            </a:r>
          </a:p>
        </p:txBody>
      </p:sp>
      <p:sp>
        <p:nvSpPr>
          <p:cNvPr id="7" name="finish heading">
            <a:extLst xmlns:a="http://schemas.openxmlformats.org/drawingml/2006/main">
              <a:ext uri="{FF2B5EF4-FFF2-40B4-BE49-F238E27FC236}">
                <a16:creationId xmlns:a16="http://schemas.microsoft.com/office/drawing/2014/main" id="{C66C417C-10FC-43C3-9F8D-CBF1A38B6074}"/>
              </a:ext>
            </a:extLst>
          </p:cNvPr>
          <p:cNvSpPr>
            <a:spLocks xmlns:a="http://schemas.openxmlformats.org/drawingml/2006/main" noGrp="1"/>
          </p:cNvSpPr>
          <p:nvPr/>
        </p:nvSpPr>
        <p:spPr>
          <a:xfrm xmlns:a="http://schemas.openxmlformats.org/drawingml/2006/main">
            <a:off x="7429500" y="3667125"/>
            <a:ext cx="40862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A complete theme needs a screen review</a:t>
            </a:r>
          </a:p>
        </p:txBody>
      </p:sp>
      <p:sp>
        <p:nvSpPr>
          <p:cNvPr id="8" name="finish body">
            <a:extLst xmlns:a="http://schemas.openxmlformats.org/drawingml/2006/main">
              <a:ext uri="{FF2B5EF4-FFF2-40B4-BE49-F238E27FC236}">
                <a16:creationId xmlns:a16="http://schemas.microsoft.com/office/drawing/2014/main" id="{6DEBAD55-22D4-4B4D-AD22-E00ABD180122}"/>
              </a:ext>
            </a:extLst>
          </p:cNvPr>
          <p:cNvSpPr>
            <a:spLocks xmlns:a="http://schemas.openxmlformats.org/drawingml/2006/main" noGrp="1"/>
          </p:cNvSpPr>
          <p:nvPr/>
        </p:nvSpPr>
        <p:spPr>
          <a:xfrm xmlns:a="http://schemas.openxmlformats.org/drawingml/2006/main">
            <a:off x="7429500" y="4152900"/>
            <a:ext cx="40862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02124"/>
                </a:solidFill>
                <a:latin typeface="Arial"/>
                <a:ea typeface="Arial"/>
                <a:cs typeface="Arial"/>
              </a:defRPr>
            </a:pPr>
            <a:r>
              <a:rPr sz="1875" b="0">
                <a:solidFill>
                  <a:srgbClr val="202124"/>
                </a:solidFill>
                <a:latin typeface="Arial"/>
                <a:ea typeface="Arial"/>
                <a:cs typeface="Arial"/>
              </a:rPr>
              <a:t>Some colors live in individual components. Check dark mode and contrast too.</a:t>
            </a:r>
          </a:p>
        </p:txBody>
      </p:sp>
      <p:sp>
        <p:nvSpPr>
          <p:cNvPr id="9" name="meaningful colors">
            <a:extLst xmlns:a="http://schemas.openxmlformats.org/drawingml/2006/main">
              <a:ext uri="{FF2B5EF4-FFF2-40B4-BE49-F238E27FC236}">
                <a16:creationId xmlns:a16="http://schemas.microsoft.com/office/drawing/2014/main" id="{1D39E40C-63D7-4E9B-977C-73E531525145}"/>
              </a:ext>
            </a:extLst>
          </p:cNvPr>
          <p:cNvSpPr>
            <a:spLocks xmlns:a="http://schemas.openxmlformats.org/drawingml/2006/main" noGrp="1"/>
          </p:cNvSpPr>
          <p:nvPr/>
        </p:nvSpPr>
        <p:spPr>
          <a:xfrm xmlns:a="http://schemas.openxmlformats.org/drawingml/2006/main">
            <a:off x="666750" y="582930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E20074"/>
                </a:solidFill>
                <a:latin typeface="Arial"/>
                <a:ea typeface="Arial"/>
                <a:cs typeface="Arial"/>
              </a:defRPr>
            </a:pPr>
            <a:r>
              <a:rPr sz="2025" b="1">
                <a:solidFill>
                  <a:srgbClr val="E20074"/>
                </a:solidFill>
                <a:latin typeface="Arial"/>
                <a:ea typeface="Arial"/>
                <a:cs typeface="Arial"/>
              </a:rPr>
              <a:t>Magenta for branding. Keep answer and status colors meaningful.</a:t>
            </a:r>
          </a:p>
        </p:txBody>
      </p:sp>
    </p:spTree>
    <p:extLst>
      <p:ext uri="{BB962C8B-B14F-4D97-AF65-F5344CB8AC3E}">
        <p14:creationId xmlns:p14="http://schemas.microsoft.com/office/powerpoint/2010/main" val="31695648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FB05628F-A9B3-47AB-AE51-30DB3EB28D86}"/>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02124"/>
                </a:solidFill>
                <a:latin typeface="Arial"/>
                <a:ea typeface="Arial"/>
                <a:cs typeface="Arial"/>
              </a:defRPr>
            </a:pPr>
            <a:r>
              <a:rPr sz="3450" b="1">
                <a:solidFill>
                  <a:srgbClr val="202124"/>
                </a:solidFill>
                <a:latin typeface="Arial"/>
                <a:ea typeface="Arial"/>
                <a:cs typeface="Arial"/>
              </a:rPr>
              <a:t>Company deployment needs an IT owner</a:t>
            </a:r>
          </a:p>
        </p:txBody>
      </p:sp>
      <p:sp>
        <p:nvSpPr>
          <p:cNvPr id="2" name="page">
            <a:extLst xmlns:a="http://schemas.openxmlformats.org/drawingml/2006/main">
              <a:ext uri="{FF2B5EF4-FFF2-40B4-BE49-F238E27FC236}">
                <a16:creationId xmlns:a16="http://schemas.microsoft.com/office/drawing/2014/main" id="{5C2297E8-827C-417C-8765-EB81F12BE42F}"/>
              </a:ext>
            </a:extLst>
          </p:cNvPr>
          <p:cNvSpPr>
            <a:spLocks xmlns:a="http://schemas.openxmlformats.org/drawingml/2006/main" noGrp="1"/>
          </p:cNvSpPr>
          <p:nvPr/>
        </p:nvSpPr>
        <p:spPr>
          <a:xfrm xmlns:a="http://schemas.openxmlformats.org/drawingml/2006/main">
            <a:off x="11144250" y="63150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26B"/>
                </a:solidFill>
                <a:latin typeface="Arial"/>
                <a:ea typeface="Arial"/>
                <a:cs typeface="Arial"/>
              </a:defRPr>
            </a:pPr>
            <a:r>
              <a:rPr sz="1275" b="0">
                <a:solidFill>
                  <a:srgbClr val="5C626B"/>
                </a:solidFill>
                <a:latin typeface="Arial"/>
                <a:ea typeface="Arial"/>
                <a:cs typeface="Arial"/>
              </a:rPr>
              <a:t>08</a:t>
            </a:r>
          </a:p>
        </p:txBody>
      </p:sp>
      <p:sp>
        <p:nvSpPr>
          <p:cNvPr id="3" name="infrastructure heading">
            <a:extLst xmlns:a="http://schemas.openxmlformats.org/drawingml/2006/main">
              <a:ext uri="{FF2B5EF4-FFF2-40B4-BE49-F238E27FC236}">
                <a16:creationId xmlns:a16="http://schemas.microsoft.com/office/drawing/2014/main" id="{64C98343-C469-40FE-8E7D-9947AD0EF3C0}"/>
              </a:ext>
            </a:extLst>
          </p:cNvPr>
          <p:cNvSpPr>
            <a:spLocks xmlns:a="http://schemas.openxmlformats.org/drawingml/2006/main" noGrp="1"/>
          </p:cNvSpPr>
          <p:nvPr/>
        </p:nvSpPr>
        <p:spPr>
          <a:xfrm xmlns:a="http://schemas.openxmlformats.org/drawingml/2006/main">
            <a:off x="666750" y="1724025"/>
            <a:ext cx="4667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Infrastructure and data</a:t>
            </a:r>
          </a:p>
        </p:txBody>
      </p:sp>
      <p:sp>
        <p:nvSpPr>
          <p:cNvPr id="4" name="infrastructure body">
            <a:extLst xmlns:a="http://schemas.openxmlformats.org/drawingml/2006/main">
              <a:ext uri="{FF2B5EF4-FFF2-40B4-BE49-F238E27FC236}">
                <a16:creationId xmlns:a16="http://schemas.microsoft.com/office/drawing/2014/main" id="{A655B247-E173-4150-9273-64EA4E65D8D6}"/>
              </a:ext>
            </a:extLst>
          </p:cNvPr>
          <p:cNvSpPr>
            <a:spLocks xmlns:a="http://schemas.openxmlformats.org/drawingml/2006/main" noGrp="1"/>
          </p:cNvSpPr>
          <p:nvPr/>
        </p:nvSpPr>
        <p:spPr>
          <a:xfrm xmlns:a="http://schemas.openxmlformats.org/drawingml/2006/main">
            <a:off x="666750" y="2209800"/>
            <a:ext cx="4667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2124"/>
                </a:solidFill>
                <a:latin typeface="Arial"/>
                <a:ea typeface="Arial"/>
                <a:cs typeface="Arial"/>
              </a:defRPr>
            </a:pPr>
            <a:r>
              <a:rPr sz="2025" b="0">
                <a:solidFill>
                  <a:srgbClr val="202124"/>
                </a:solidFill>
                <a:latin typeface="Arial"/>
                <a:ea typeface="Arial"/>
                <a:cs typeface="Arial"/>
              </a:rPr>
              <a:t>Hosting, DNS/HTTPS, database, live-session and search services, S3 storage.</a:t>
            </a:r>
          </a:p>
        </p:txBody>
      </p:sp>
      <p:sp>
        <p:nvSpPr>
          <p:cNvPr id="5" name="identity heading">
            <a:extLst xmlns:a="http://schemas.openxmlformats.org/drawingml/2006/main">
              <a:ext uri="{FF2B5EF4-FFF2-40B4-BE49-F238E27FC236}">
                <a16:creationId xmlns:a16="http://schemas.microsoft.com/office/drawing/2014/main" id="{04235B1C-0760-4733-9276-A845D002EE29}"/>
              </a:ext>
            </a:extLst>
          </p:cNvPr>
          <p:cNvSpPr>
            <a:spLocks xmlns:a="http://schemas.openxmlformats.org/drawingml/2006/main" noGrp="1"/>
          </p:cNvSpPr>
          <p:nvPr/>
        </p:nvSpPr>
        <p:spPr>
          <a:xfrm xmlns:a="http://schemas.openxmlformats.org/drawingml/2006/main">
            <a:off x="6419850" y="1724025"/>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Identity and access</a:t>
            </a:r>
          </a:p>
        </p:txBody>
      </p:sp>
      <p:sp>
        <p:nvSpPr>
          <p:cNvPr id="6" name="identity body">
            <a:extLst xmlns:a="http://schemas.openxmlformats.org/drawingml/2006/main">
              <a:ext uri="{FF2B5EF4-FFF2-40B4-BE49-F238E27FC236}">
                <a16:creationId xmlns:a16="http://schemas.microsoft.com/office/drawing/2014/main" id="{BFD265E8-7539-42FC-8F68-428B30F3C304}"/>
              </a:ext>
            </a:extLst>
          </p:cNvPr>
          <p:cNvSpPr>
            <a:spLocks xmlns:a="http://schemas.openxmlformats.org/drawingml/2006/main" noGrp="1"/>
          </p:cNvSpPr>
          <p:nvPr/>
        </p:nvSpPr>
        <p:spPr>
          <a:xfrm xmlns:a="http://schemas.openxmlformats.org/drawingml/2006/main">
            <a:off x="6419850" y="22098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2124"/>
                </a:solidFill>
                <a:latin typeface="Arial"/>
                <a:ea typeface="Arial"/>
                <a:cs typeface="Arial"/>
              </a:defRPr>
            </a:pPr>
            <a:r>
              <a:rPr sz="2025" b="0">
                <a:solidFill>
                  <a:srgbClr val="202124"/>
                </a:solidFill>
                <a:latin typeface="Arial"/>
                <a:ea typeface="Arial"/>
                <a:cs typeface="Arial"/>
              </a:rPr>
              <a:t>Entra application setup, integration fixes and access rules.</a:t>
            </a:r>
          </a:p>
        </p:txBody>
      </p:sp>
      <p:sp>
        <p:nvSpPr>
          <p:cNvPr id="7" name="operations heading">
            <a:extLst xmlns:a="http://schemas.openxmlformats.org/drawingml/2006/main">
              <a:ext uri="{FF2B5EF4-FFF2-40B4-BE49-F238E27FC236}">
                <a16:creationId xmlns:a16="http://schemas.microsoft.com/office/drawing/2014/main" id="{06C0D9C2-AEAB-4FE6-B441-3502C21080D3}"/>
              </a:ext>
            </a:extLst>
          </p:cNvPr>
          <p:cNvSpPr>
            <a:spLocks xmlns:a="http://schemas.openxmlformats.org/drawingml/2006/main" noGrp="1"/>
          </p:cNvSpPr>
          <p:nvPr/>
        </p:nvSpPr>
        <p:spPr>
          <a:xfrm xmlns:a="http://schemas.openxmlformats.org/drawingml/2006/main">
            <a:off x="666750" y="3667125"/>
            <a:ext cx="4667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Operations</a:t>
            </a:r>
          </a:p>
        </p:txBody>
      </p:sp>
      <p:sp>
        <p:nvSpPr>
          <p:cNvPr id="8" name="operations body">
            <a:extLst xmlns:a="http://schemas.openxmlformats.org/drawingml/2006/main">
              <a:ext uri="{FF2B5EF4-FFF2-40B4-BE49-F238E27FC236}">
                <a16:creationId xmlns:a16="http://schemas.microsoft.com/office/drawing/2014/main" id="{FF473ABF-265C-4603-BD4A-F6E73EA5A555}"/>
              </a:ext>
            </a:extLst>
          </p:cNvPr>
          <p:cNvSpPr>
            <a:spLocks xmlns:a="http://schemas.openxmlformats.org/drawingml/2006/main" noGrp="1"/>
          </p:cNvSpPr>
          <p:nvPr/>
        </p:nvSpPr>
        <p:spPr>
          <a:xfrm xmlns:a="http://schemas.openxmlformats.org/drawingml/2006/main">
            <a:off x="666750" y="4152900"/>
            <a:ext cx="4667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2124"/>
                </a:solidFill>
                <a:latin typeface="Arial"/>
                <a:ea typeface="Arial"/>
                <a:cs typeface="Arial"/>
              </a:defRPr>
            </a:pPr>
            <a:r>
              <a:rPr sz="2025" b="0">
                <a:solidFill>
                  <a:srgbClr val="202124"/>
                </a:solidFill>
                <a:latin typeface="Arial"/>
                <a:ea typeface="Arial"/>
                <a:cs typeface="Arial"/>
              </a:rPr>
              <a:t>Secrets, backups, monitoring, updates and SMTP if email features are needed.</a:t>
            </a:r>
          </a:p>
        </p:txBody>
      </p:sp>
      <p:sp>
        <p:nvSpPr>
          <p:cNvPr id="9" name="pilot heading">
            <a:extLst xmlns:a="http://schemas.openxmlformats.org/drawingml/2006/main">
              <a:ext uri="{FF2B5EF4-FFF2-40B4-BE49-F238E27FC236}">
                <a16:creationId xmlns:a16="http://schemas.microsoft.com/office/drawing/2014/main" id="{14D264F7-1068-44B4-88D5-BCD72AD16CDC}"/>
              </a:ext>
            </a:extLst>
          </p:cNvPr>
          <p:cNvSpPr>
            <a:spLocks xmlns:a="http://schemas.openxmlformats.org/drawingml/2006/main" noGrp="1"/>
          </p:cNvSpPr>
          <p:nvPr/>
        </p:nvSpPr>
        <p:spPr>
          <a:xfrm xmlns:a="http://schemas.openxmlformats.org/drawingml/2006/main">
            <a:off x="6419850" y="3667125"/>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Pilot validation</a:t>
            </a:r>
          </a:p>
        </p:txBody>
      </p:sp>
      <p:sp>
        <p:nvSpPr>
          <p:cNvPr id="10" name="pilot body">
            <a:extLst xmlns:a="http://schemas.openxmlformats.org/drawingml/2006/main">
              <a:ext uri="{FF2B5EF4-FFF2-40B4-BE49-F238E27FC236}">
                <a16:creationId xmlns:a16="http://schemas.microsoft.com/office/drawing/2014/main" id="{BAC577DA-4824-404A-BEAC-8BA24B731042}"/>
              </a:ext>
            </a:extLst>
          </p:cNvPr>
          <p:cNvSpPr>
            <a:spLocks xmlns:a="http://schemas.openxmlformats.org/drawingml/2006/main" noGrp="1"/>
          </p:cNvSpPr>
          <p:nvPr/>
        </p:nvSpPr>
        <p:spPr>
          <a:xfrm xmlns:a="http://schemas.openxmlformats.org/drawingml/2006/main">
            <a:off x="6419850" y="41529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02124"/>
                </a:solidFill>
                <a:latin typeface="Arial"/>
                <a:ea typeface="Arial"/>
                <a:cs typeface="Arial"/>
              </a:defRPr>
            </a:pPr>
            <a:r>
              <a:rPr sz="2025" b="0">
                <a:solidFill>
                  <a:srgbClr val="202124"/>
                </a:solidFill>
                <a:latin typeface="Arial"/>
                <a:ea typeface="Arial"/>
                <a:cs typeface="Arial"/>
              </a:rPr>
              <a:t>Test a realistic event size, reconnects and recovery.</a:t>
            </a:r>
          </a:p>
        </p:txBody>
      </p:sp>
      <p:sp>
        <p:nvSpPr>
          <p:cNvPr id="11" name="dependency">
            <a:extLst xmlns:a="http://schemas.openxmlformats.org/drawingml/2006/main">
              <a:ext uri="{FF2B5EF4-FFF2-40B4-BE49-F238E27FC236}">
                <a16:creationId xmlns:a16="http://schemas.microsoft.com/office/drawing/2014/main" id="{C34C888E-A149-4F0B-9226-A0728A733547}"/>
              </a:ext>
            </a:extLst>
          </p:cNvPr>
          <p:cNvSpPr>
            <a:spLocks xmlns:a="http://schemas.openxmlformats.org/drawingml/2006/main" noGrp="1"/>
          </p:cNvSpPr>
          <p:nvPr/>
        </p:nvSpPr>
        <p:spPr>
          <a:xfrm xmlns:a="http://schemas.openxmlformats.org/drawingml/2006/main">
            <a:off x="666750" y="5753100"/>
            <a:ext cx="10620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E20074"/>
                </a:solidFill>
                <a:latin typeface="Arial"/>
                <a:ea typeface="Arial"/>
                <a:cs typeface="Arial"/>
              </a:defRPr>
            </a:pPr>
            <a:r>
              <a:rPr sz="2100" b="1">
                <a:solidFill>
                  <a:srgbClr val="E20074"/>
                </a:solidFill>
                <a:latin typeface="Arial"/>
                <a:ea typeface="Arial"/>
                <a:cs typeface="Arial"/>
              </a:rPr>
              <a:t>I need an IT partner with access to company hosting, DNS and Entra ID.</a:t>
            </a:r>
          </a:p>
        </p:txBody>
      </p:sp>
    </p:spTree>
    <p:extLst>
      <p:ext uri="{BB962C8B-B14F-4D97-AF65-F5344CB8AC3E}">
        <p14:creationId xmlns:p14="http://schemas.microsoft.com/office/powerpoint/2010/main" val="282632747"/>
      </p:ext>
    </p:extLst>
  </p:cSld>
</p:sld>
</file>

<file path=ppt/slides/slide9.xml><?xml version="1.0" encoding="utf-8"?>
<p:sld xmlns:p="http://schemas.openxmlformats.org/presentationml/2006/main">
  <p:cSld>
    <p:bg>
      <p:bgPr>
        <a:solidFill xmlns:a="http://schemas.openxmlformats.org/drawingml/2006/main">
          <a:srgbClr val="E20074"/>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876BE26-2D02-4A1B-9351-D930C6BD9B49}"/>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Proposal: one internal pilot</a:t>
            </a:r>
          </a:p>
        </p:txBody>
      </p:sp>
      <p:sp>
        <p:nvSpPr>
          <p:cNvPr id="2" name="page">
            <a:extLst xmlns:a="http://schemas.openxmlformats.org/drawingml/2006/main">
              <a:ext uri="{FF2B5EF4-FFF2-40B4-BE49-F238E27FC236}">
                <a16:creationId xmlns:a16="http://schemas.microsoft.com/office/drawing/2014/main" id="{FEE0FB15-49F5-4B58-97DF-A1CC0FC04ED8}"/>
              </a:ext>
            </a:extLst>
          </p:cNvPr>
          <p:cNvSpPr>
            <a:spLocks xmlns:a="http://schemas.openxmlformats.org/drawingml/2006/main" noGrp="1"/>
          </p:cNvSpPr>
          <p:nvPr/>
        </p:nvSpPr>
        <p:spPr>
          <a:xfrm xmlns:a="http://schemas.openxmlformats.org/drawingml/2006/main">
            <a:off x="11144250" y="63150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FFFFFF"/>
                </a:solidFill>
                <a:latin typeface="Arial"/>
                <a:ea typeface="Arial"/>
                <a:cs typeface="Arial"/>
              </a:defRPr>
            </a:pPr>
            <a:r>
              <a:rPr sz="1275" b="0">
                <a:solidFill>
                  <a:srgbClr val="FFFFFF"/>
                </a:solidFill>
                <a:latin typeface="Arial"/>
                <a:ea typeface="Arial"/>
                <a:cs typeface="Arial"/>
              </a:rPr>
              <a:t>09</a:t>
            </a:r>
          </a:p>
        </p:txBody>
      </p:sp>
      <p:sp>
        <p:nvSpPr>
          <p:cNvPr id="3" name="pilot aim">
            <a:extLst xmlns:a="http://schemas.openxmlformats.org/drawingml/2006/main">
              <a:ext uri="{FF2B5EF4-FFF2-40B4-BE49-F238E27FC236}">
                <a16:creationId xmlns:a16="http://schemas.microsoft.com/office/drawing/2014/main" id="{E8939975-E732-4F15-A547-5B5BC2818FEC}"/>
              </a:ext>
            </a:extLst>
          </p:cNvPr>
          <p:cNvSpPr>
            <a:spLocks xmlns:a="http://schemas.openxmlformats.org/drawingml/2006/main" noGrp="1"/>
          </p:cNvSpPr>
          <p:nvPr/>
        </p:nvSpPr>
        <p:spPr>
          <a:xfrm xmlns:a="http://schemas.openxmlformats.org/drawingml/2006/main">
            <a:off x="666750" y="1724025"/>
            <a:ext cx="1066800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125" b="1">
                <a:solidFill>
                  <a:srgbClr val="FFFFFF"/>
                </a:solidFill>
                <a:latin typeface="Arial"/>
                <a:ea typeface="Arial"/>
                <a:cs typeface="Arial"/>
              </a:defRPr>
            </a:pPr>
            <a:r>
              <a:rPr sz="4125" b="1">
                <a:solidFill>
                  <a:srgbClr val="FFFFFF"/>
                </a:solidFill>
                <a:latin typeface="Arial"/>
                <a:ea typeface="Arial"/>
                <a:cs typeface="Arial"/>
              </a:rPr>
              <a:t>Use one real event to decide</a:t>
            </a:r>
          </a:p>
          <a:p xmlns:a="http://schemas.openxmlformats.org/drawingml/2006/main">
            <a:pPr>
              <a:defRPr sz="4125" b="1">
                <a:solidFill>
                  <a:srgbClr val="FFFFFF"/>
                </a:solidFill>
                <a:latin typeface="Arial"/>
                <a:ea typeface="Arial"/>
                <a:cs typeface="Arial"/>
              </a:defRPr>
            </a:pPr>
            <a:r>
              <a:rPr sz="4125" b="1">
                <a:solidFill>
                  <a:srgbClr val="FFFFFF"/>
                </a:solidFill>
                <a:latin typeface="Arial"/>
                <a:ea typeface="Arial"/>
                <a:cs typeface="Arial"/>
              </a:rPr>
              <a:t>whether ClassQuiz fits.</a:t>
            </a:r>
          </a:p>
        </p:txBody>
      </p:sp>
      <p:sp>
        <p:nvSpPr>
          <p:cNvPr id="4" name="ask">
            <a:extLst xmlns:a="http://schemas.openxmlformats.org/drawingml/2006/main">
              <a:ext uri="{FF2B5EF4-FFF2-40B4-BE49-F238E27FC236}">
                <a16:creationId xmlns:a16="http://schemas.microsoft.com/office/drawing/2014/main" id="{DE095BFA-E741-430D-AA97-F2223F8C858B}"/>
              </a:ext>
            </a:extLst>
          </p:cNvPr>
          <p:cNvSpPr>
            <a:spLocks xmlns:a="http://schemas.openxmlformats.org/drawingml/2006/main" noGrp="1"/>
          </p:cNvSpPr>
          <p:nvPr/>
        </p:nvSpPr>
        <p:spPr>
          <a:xfrm xmlns:a="http://schemas.openxmlformats.org/drawingml/2006/main">
            <a:off x="704850" y="3790950"/>
            <a:ext cx="104775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An IT partner and approved hosting</a:t>
            </a:r>
          </a:p>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A short quiz with a representative group</a:t>
            </a:r>
          </a:p>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A review of reliability and hosting effort</a:t>
            </a:r>
          </a:p>
        </p:txBody>
      </p:sp>
      <p:sp>
        <p:nvSpPr>
          <p:cNvPr id="5" name="close">
            <a:extLst xmlns:a="http://schemas.openxmlformats.org/drawingml/2006/main">
              <a:ext uri="{FF2B5EF4-FFF2-40B4-BE49-F238E27FC236}">
                <a16:creationId xmlns:a16="http://schemas.microsoft.com/office/drawing/2014/main" id="{B72BC295-651D-4AA7-BB76-BF28EE97DEAB}"/>
              </a:ext>
            </a:extLst>
          </p:cNvPr>
          <p:cNvSpPr>
            <a:spLocks xmlns:a="http://schemas.openxmlformats.org/drawingml/2006/main" noGrp="1"/>
          </p:cNvSpPr>
          <p:nvPr/>
        </p:nvSpPr>
        <p:spPr>
          <a:xfrm xmlns:a="http://schemas.openxmlformats.org/drawingml/2006/main">
            <a:off x="704850" y="5753100"/>
            <a:ext cx="1038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Build on the existing project, with clear ownership for company use.</a:t>
            </a:r>
          </a:p>
        </p:txBody>
      </p:sp>
    </p:spTree>
    <p:extLst>
      <p:ext uri="{BB962C8B-B14F-4D97-AF65-F5344CB8AC3E}">
        <p14:creationId xmlns:p14="http://schemas.microsoft.com/office/powerpoint/2010/main" val="62124654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9B74EEDA-EDAC-482D-BA45-6AF6F02376EF}"/>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02124"/>
                </a:solidFill>
                <a:latin typeface="Arial"/>
                <a:ea typeface="Arial"/>
                <a:cs typeface="Arial"/>
              </a:defRPr>
            </a:pPr>
            <a:r>
              <a:rPr sz="3450" b="1">
                <a:solidFill>
                  <a:srgbClr val="202124"/>
                </a:solidFill>
                <a:latin typeface="Arial"/>
                <a:ea typeface="Arial"/>
                <a:cs typeface="Arial"/>
              </a:rPr>
              <a:t>Appendix: Entra integration details</a:t>
            </a:r>
          </a:p>
        </p:txBody>
      </p:sp>
      <p:sp>
        <p:nvSpPr>
          <p:cNvPr id="2" name="page">
            <a:extLst xmlns:a="http://schemas.openxmlformats.org/drawingml/2006/main">
              <a:ext uri="{FF2B5EF4-FFF2-40B4-BE49-F238E27FC236}">
                <a16:creationId xmlns:a16="http://schemas.microsoft.com/office/drawing/2014/main" id="{7CEF9EBE-DE9F-4D3C-BEE9-A0DC3952DF96}"/>
              </a:ext>
            </a:extLst>
          </p:cNvPr>
          <p:cNvSpPr>
            <a:spLocks xmlns:a="http://schemas.openxmlformats.org/drawingml/2006/main" noGrp="1"/>
          </p:cNvSpPr>
          <p:nvPr/>
        </p:nvSpPr>
        <p:spPr>
          <a:xfrm xmlns:a="http://schemas.openxmlformats.org/drawingml/2006/main">
            <a:off x="11144250" y="63150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26B"/>
                </a:solidFill>
                <a:latin typeface="Arial"/>
                <a:ea typeface="Arial"/>
                <a:cs typeface="Arial"/>
              </a:defRPr>
            </a:pPr>
            <a:r>
              <a:rPr sz="1275" b="0">
                <a:solidFill>
                  <a:srgbClr val="5C626B"/>
                </a:solidFill>
                <a:latin typeface="Arial"/>
                <a:ea typeface="Arial"/>
                <a:cs typeface="Arial"/>
              </a:rPr>
              <a:t>10</a:t>
            </a:r>
          </a:p>
        </p:txBody>
      </p:sp>
      <p:sp>
        <p:nvSpPr>
          <p:cNvPr id="3" name="configure heading">
            <a:extLst xmlns:a="http://schemas.openxmlformats.org/drawingml/2006/main">
              <a:ext uri="{FF2B5EF4-FFF2-40B4-BE49-F238E27FC236}">
                <a16:creationId xmlns:a16="http://schemas.microsoft.com/office/drawing/2014/main" id="{E6F0A46C-54BF-49FA-B57B-902E0E5BBE79}"/>
              </a:ext>
            </a:extLst>
          </p:cNvPr>
          <p:cNvSpPr>
            <a:spLocks xmlns:a="http://schemas.openxmlformats.org/drawingml/2006/main" noGrp="1"/>
          </p:cNvSpPr>
          <p:nvPr/>
        </p:nvSpPr>
        <p:spPr>
          <a:xfrm xmlns:a="http://schemas.openxmlformats.org/drawingml/2006/main">
            <a:off x="666750" y="1638300"/>
            <a:ext cx="4905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Configuration already exists</a:t>
            </a:r>
          </a:p>
        </p:txBody>
      </p:sp>
      <p:sp>
        <p:nvSpPr>
          <p:cNvPr id="4" name="configure body">
            <a:extLst xmlns:a="http://schemas.openxmlformats.org/drawingml/2006/main">
              <a:ext uri="{FF2B5EF4-FFF2-40B4-BE49-F238E27FC236}">
                <a16:creationId xmlns:a16="http://schemas.microsoft.com/office/drawing/2014/main" id="{04250B49-076A-4C42-BBE5-65C4BB26F16F}"/>
              </a:ext>
            </a:extLst>
          </p:cNvPr>
          <p:cNvSpPr>
            <a:spLocks xmlns:a="http://schemas.openxmlformats.org/drawingml/2006/main" noGrp="1"/>
          </p:cNvSpPr>
          <p:nvPr/>
        </p:nvSpPr>
        <p:spPr>
          <a:xfrm xmlns:a="http://schemas.openxmlformats.org/drawingml/2006/main">
            <a:off x="666750" y="2124075"/>
            <a:ext cx="49053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02124"/>
                </a:solidFill>
                <a:latin typeface="Arial"/>
                <a:ea typeface="Arial"/>
                <a:cs typeface="Arial"/>
              </a:defRPr>
            </a:pPr>
            <a:r>
              <a:rPr sz="1875" b="0">
                <a:solidFill>
                  <a:srgbClr val="202124"/>
                </a:solidFill>
                <a:latin typeface="Arial"/>
                <a:ea typeface="Arial"/>
                <a:cs typeface="Arial"/>
              </a:rPr>
              <a:t>Custom provider settings, discovery URL, client ID/secret and a login callback.</a:t>
            </a:r>
          </a:p>
        </p:txBody>
      </p:sp>
      <p:sp>
        <p:nvSpPr>
          <p:cNvPr id="5" name="adapt heading">
            <a:extLst xmlns:a="http://schemas.openxmlformats.org/drawingml/2006/main">
              <a:ext uri="{FF2B5EF4-FFF2-40B4-BE49-F238E27FC236}">
                <a16:creationId xmlns:a16="http://schemas.microsoft.com/office/drawing/2014/main" id="{26A28139-93FA-49BB-A95B-EBDDAF534994}"/>
              </a:ext>
            </a:extLst>
          </p:cNvPr>
          <p:cNvSpPr>
            <a:spLocks xmlns:a="http://schemas.openxmlformats.org/drawingml/2006/main" noGrp="1"/>
          </p:cNvSpPr>
          <p:nvPr/>
        </p:nvSpPr>
        <p:spPr>
          <a:xfrm xmlns:a="http://schemas.openxmlformats.org/drawingml/2006/main">
            <a:off x="6419850" y="1638300"/>
            <a:ext cx="4933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Developer review required</a:t>
            </a:r>
          </a:p>
        </p:txBody>
      </p:sp>
      <p:sp>
        <p:nvSpPr>
          <p:cNvPr id="6" name="adapt body">
            <a:extLst xmlns:a="http://schemas.openxmlformats.org/drawingml/2006/main">
              <a:ext uri="{FF2B5EF4-FFF2-40B4-BE49-F238E27FC236}">
                <a16:creationId xmlns:a16="http://schemas.microsoft.com/office/drawing/2014/main" id="{452DCEB6-D88F-4896-9F4C-30C21BBA2218}"/>
              </a:ext>
            </a:extLst>
          </p:cNvPr>
          <p:cNvSpPr>
            <a:spLocks xmlns:a="http://schemas.openxmlformats.org/drawingml/2006/main" noGrp="1"/>
          </p:cNvSpPr>
          <p:nvPr/>
        </p:nvSpPr>
        <p:spPr>
          <a:xfrm xmlns:a="http://schemas.openxmlformats.org/drawingml/2006/main">
            <a:off x="6419850" y="2124075"/>
            <a:ext cx="49339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02124"/>
                </a:solidFill>
                <a:latin typeface="Arial"/>
                <a:ea typeface="Arial"/>
                <a:cs typeface="Arial"/>
              </a:defRPr>
            </a:pPr>
            <a:r>
              <a:rPr sz="1875" b="0">
                <a:solidFill>
                  <a:srgbClr val="202124"/>
                </a:solidFill>
                <a:latin typeface="Arial"/>
                <a:ea typeface="Arial"/>
                <a:cs typeface="Arial"/>
              </a:rPr>
              <a:t>Subject ID format, missing identity fields, account linking and token response validation.</a:t>
            </a:r>
          </a:p>
        </p:txBody>
      </p:sp>
      <p:sp>
        <p:nvSpPr>
          <p:cNvPr id="7" name="entra heading">
            <a:extLst xmlns:a="http://schemas.openxmlformats.org/drawingml/2006/main">
              <a:ext uri="{FF2B5EF4-FFF2-40B4-BE49-F238E27FC236}">
                <a16:creationId xmlns:a16="http://schemas.microsoft.com/office/drawing/2014/main" id="{8C12DF5B-CBE2-46E5-8B42-0DB098785F11}"/>
              </a:ext>
            </a:extLst>
          </p:cNvPr>
          <p:cNvSpPr>
            <a:spLocks xmlns:a="http://schemas.openxmlformats.org/drawingml/2006/main" noGrp="1"/>
          </p:cNvSpPr>
          <p:nvPr/>
        </p:nvSpPr>
        <p:spPr>
          <a:xfrm xmlns:a="http://schemas.openxmlformats.org/drawingml/2006/main">
            <a:off x="666750" y="3714750"/>
            <a:ext cx="4905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IT must configure the tenant</a:t>
            </a:r>
          </a:p>
        </p:txBody>
      </p:sp>
      <p:sp>
        <p:nvSpPr>
          <p:cNvPr id="8" name="entra body">
            <a:extLst xmlns:a="http://schemas.openxmlformats.org/drawingml/2006/main">
              <a:ext uri="{FF2B5EF4-FFF2-40B4-BE49-F238E27FC236}">
                <a16:creationId xmlns:a16="http://schemas.microsoft.com/office/drawing/2014/main" id="{6D7AED55-C251-46F1-B69B-D7635F7AB2F2}"/>
              </a:ext>
            </a:extLst>
          </p:cNvPr>
          <p:cNvSpPr>
            <a:spLocks xmlns:a="http://schemas.openxmlformats.org/drawingml/2006/main" noGrp="1"/>
          </p:cNvSpPr>
          <p:nvPr/>
        </p:nvSpPr>
        <p:spPr>
          <a:xfrm xmlns:a="http://schemas.openxmlformats.org/drawingml/2006/main">
            <a:off x="666750" y="4200525"/>
            <a:ext cx="49053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02124"/>
                </a:solidFill>
                <a:latin typeface="Arial"/>
                <a:ea typeface="Arial"/>
                <a:cs typeface="Arial"/>
              </a:defRPr>
            </a:pPr>
            <a:r>
              <a:rPr sz="1875" b="0">
                <a:solidFill>
                  <a:srgbClr val="202124"/>
                </a:solidFill>
                <a:latin typeface="Arial"/>
                <a:ea typeface="Arial"/>
                <a:cs typeface="Arial"/>
              </a:rPr>
              <a:t>Register the app, allow the redirect URI and apply appropriate access policy.</a:t>
            </a:r>
          </a:p>
        </p:txBody>
      </p:sp>
      <p:sp>
        <p:nvSpPr>
          <p:cNvPr id="9" name="test heading">
            <a:extLst xmlns:a="http://schemas.openxmlformats.org/drawingml/2006/main">
              <a:ext uri="{FF2B5EF4-FFF2-40B4-BE49-F238E27FC236}">
                <a16:creationId xmlns:a16="http://schemas.microsoft.com/office/drawing/2014/main" id="{CFA06BBC-FFCE-4232-903B-3B8149FFA5F7}"/>
              </a:ext>
            </a:extLst>
          </p:cNvPr>
          <p:cNvSpPr>
            <a:spLocks xmlns:a="http://schemas.openxmlformats.org/drawingml/2006/main" noGrp="1"/>
          </p:cNvSpPr>
          <p:nvPr/>
        </p:nvSpPr>
        <p:spPr>
          <a:xfrm xmlns:a="http://schemas.openxmlformats.org/drawingml/2006/main">
            <a:off x="6419850" y="3714750"/>
            <a:ext cx="4933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Acceptance checks</a:t>
            </a:r>
          </a:p>
        </p:txBody>
      </p:sp>
      <p:sp>
        <p:nvSpPr>
          <p:cNvPr id="10" name="test body">
            <a:extLst xmlns:a="http://schemas.openxmlformats.org/drawingml/2006/main">
              <a:ext uri="{FF2B5EF4-FFF2-40B4-BE49-F238E27FC236}">
                <a16:creationId xmlns:a16="http://schemas.microsoft.com/office/drawing/2014/main" id="{D506D2F5-66CC-49CE-9CCF-047461F735F3}"/>
              </a:ext>
            </a:extLst>
          </p:cNvPr>
          <p:cNvSpPr>
            <a:spLocks xmlns:a="http://schemas.openxmlformats.org/drawingml/2006/main" noGrp="1"/>
          </p:cNvSpPr>
          <p:nvPr/>
        </p:nvSpPr>
        <p:spPr>
          <a:xfrm xmlns:a="http://schemas.openxmlformats.org/drawingml/2006/main">
            <a:off x="6419850" y="4200525"/>
            <a:ext cx="49339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02124"/>
                </a:solidFill>
                <a:latin typeface="Arial"/>
                <a:ea typeface="Arial"/>
                <a:cs typeface="Arial"/>
              </a:defRPr>
            </a:pPr>
            <a:r>
              <a:rPr sz="1875" b="0">
                <a:solidFill>
                  <a:srgbClr val="202124"/>
                </a:solidFill>
                <a:latin typeface="Arial"/>
                <a:ea typeface="Arial"/>
                <a:cs typeface="Arial"/>
              </a:rPr>
              <a:t>First sign-in and repeat sign-in, logout, denied access and player access boundaries.</a:t>
            </a:r>
          </a:p>
        </p:txBody>
      </p:sp>
    </p:spTree>
    <p:extLst>
      <p:ext uri="{BB962C8B-B14F-4D97-AF65-F5344CB8AC3E}">
        <p14:creationId xmlns:p14="http://schemas.microsoft.com/office/powerpoint/2010/main" val="10734205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1788F88F-D140-4378-A485-EE5078C61A28}"/>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02124"/>
                </a:solidFill>
                <a:latin typeface="Arial"/>
                <a:ea typeface="Arial"/>
                <a:cs typeface="Arial"/>
              </a:defRPr>
            </a:pPr>
            <a:r>
              <a:rPr sz="3450" b="1">
                <a:solidFill>
                  <a:srgbClr val="202124"/>
                </a:solidFill>
                <a:latin typeface="Arial"/>
                <a:ea typeface="Arial"/>
                <a:cs typeface="Arial"/>
              </a:rPr>
              <a:t>Appendix: likely questions</a:t>
            </a:r>
          </a:p>
        </p:txBody>
      </p:sp>
      <p:sp>
        <p:nvSpPr>
          <p:cNvPr id="2" name="page">
            <a:extLst xmlns:a="http://schemas.openxmlformats.org/drawingml/2006/main">
              <a:ext uri="{FF2B5EF4-FFF2-40B4-BE49-F238E27FC236}">
                <a16:creationId xmlns:a16="http://schemas.microsoft.com/office/drawing/2014/main" id="{4B038B38-E24A-44EA-BE51-8D69D76D9444}"/>
              </a:ext>
            </a:extLst>
          </p:cNvPr>
          <p:cNvSpPr>
            <a:spLocks xmlns:a="http://schemas.openxmlformats.org/drawingml/2006/main" noGrp="1"/>
          </p:cNvSpPr>
          <p:nvPr/>
        </p:nvSpPr>
        <p:spPr>
          <a:xfrm xmlns:a="http://schemas.openxmlformats.org/drawingml/2006/main">
            <a:off x="11144250" y="63150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26B"/>
                </a:solidFill>
                <a:latin typeface="Arial"/>
                <a:ea typeface="Arial"/>
                <a:cs typeface="Arial"/>
              </a:defRPr>
            </a:pPr>
            <a:r>
              <a:rPr sz="1275" b="0">
                <a:solidFill>
                  <a:srgbClr val="5C626B"/>
                </a:solidFill>
                <a:latin typeface="Arial"/>
                <a:ea typeface="Arial"/>
                <a:cs typeface="Arial"/>
              </a:rPr>
              <a:t>11</a:t>
            </a:r>
          </a:p>
        </p:txBody>
      </p:sp>
      <p:sp>
        <p:nvSpPr>
          <p:cNvPr id="3" name="free heading">
            <a:extLst xmlns:a="http://schemas.openxmlformats.org/drawingml/2006/main">
              <a:ext uri="{FF2B5EF4-FFF2-40B4-BE49-F238E27FC236}">
                <a16:creationId xmlns:a16="http://schemas.microsoft.com/office/drawing/2014/main" id="{29FF056F-9DEF-446F-95DD-1D5A4EBD83A2}"/>
              </a:ext>
            </a:extLst>
          </p:cNvPr>
          <p:cNvSpPr>
            <a:spLocks xmlns:a="http://schemas.openxmlformats.org/drawingml/2006/main" noGrp="1"/>
          </p:cNvSpPr>
          <p:nvPr/>
        </p:nvSpPr>
        <p:spPr>
          <a:xfrm xmlns:a="http://schemas.openxmlformats.org/drawingml/2006/main">
            <a:off x="666750" y="1628775"/>
            <a:ext cx="49244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Is it free for company use?</a:t>
            </a:r>
          </a:p>
        </p:txBody>
      </p:sp>
      <p:sp>
        <p:nvSpPr>
          <p:cNvPr id="4" name="free body">
            <a:extLst xmlns:a="http://schemas.openxmlformats.org/drawingml/2006/main">
              <a:ext uri="{FF2B5EF4-FFF2-40B4-BE49-F238E27FC236}">
                <a16:creationId xmlns:a16="http://schemas.microsoft.com/office/drawing/2014/main" id="{8FCF9019-BD19-4DCE-B236-121D543750D1}"/>
              </a:ext>
            </a:extLst>
          </p:cNvPr>
          <p:cNvSpPr>
            <a:spLocks xmlns:a="http://schemas.openxmlformats.org/drawingml/2006/main" noGrp="1"/>
          </p:cNvSpPr>
          <p:nvPr/>
        </p:nvSpPr>
        <p:spPr>
          <a:xfrm xmlns:a="http://schemas.openxmlformats.org/drawingml/2006/main">
            <a:off x="666750" y="2114550"/>
            <a:ext cx="49244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02124"/>
                </a:solidFill>
                <a:latin typeface="Arial"/>
                <a:ea typeface="Arial"/>
                <a:cs typeface="Arial"/>
              </a:defRPr>
            </a:pPr>
            <a:r>
              <a:rPr sz="1875" b="0">
                <a:solidFill>
                  <a:srgbClr val="202124"/>
                </a:solidFill>
                <a:latin typeface="Arial"/>
                <a:ea typeface="Arial"/>
                <a:cs typeface="Arial"/>
              </a:rPr>
              <a:t>The MPL grants use rights without a royalty. Hosting and maintenance still cost time and money.</a:t>
            </a:r>
          </a:p>
        </p:txBody>
      </p:sp>
      <p:sp>
        <p:nvSpPr>
          <p:cNvPr id="5" name="source heading">
            <a:extLst xmlns:a="http://schemas.openxmlformats.org/drawingml/2006/main">
              <a:ext uri="{FF2B5EF4-FFF2-40B4-BE49-F238E27FC236}">
                <a16:creationId xmlns:a16="http://schemas.microsoft.com/office/drawing/2014/main" id="{F3A12268-6E9F-4E16-998B-54006EAC3BD6}"/>
              </a:ext>
            </a:extLst>
          </p:cNvPr>
          <p:cNvSpPr>
            <a:spLocks xmlns:a="http://schemas.openxmlformats.org/drawingml/2006/main" noGrp="1"/>
          </p:cNvSpPr>
          <p:nvPr/>
        </p:nvSpPr>
        <p:spPr>
          <a:xfrm xmlns:a="http://schemas.openxmlformats.org/drawingml/2006/main">
            <a:off x="6419850" y="1628775"/>
            <a:ext cx="49244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Do we have to publish every change?</a:t>
            </a:r>
          </a:p>
        </p:txBody>
      </p:sp>
      <p:sp>
        <p:nvSpPr>
          <p:cNvPr id="6" name="source body">
            <a:extLst xmlns:a="http://schemas.openxmlformats.org/drawingml/2006/main">
              <a:ext uri="{FF2B5EF4-FFF2-40B4-BE49-F238E27FC236}">
                <a16:creationId xmlns:a16="http://schemas.microsoft.com/office/drawing/2014/main" id="{66881BCB-81A9-445A-B0A7-11FCA63F1C7E}"/>
              </a:ext>
            </a:extLst>
          </p:cNvPr>
          <p:cNvSpPr>
            <a:spLocks xmlns:a="http://schemas.openxmlformats.org/drawingml/2006/main" noGrp="1"/>
          </p:cNvSpPr>
          <p:nvPr/>
        </p:nvSpPr>
        <p:spPr>
          <a:xfrm xmlns:a="http://schemas.openxmlformats.org/drawingml/2006/main">
            <a:off x="6419850" y="2114550"/>
            <a:ext cx="49244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02124"/>
                </a:solidFill>
                <a:latin typeface="Arial"/>
                <a:ea typeface="Arial"/>
                <a:cs typeface="Arial"/>
              </a:defRPr>
            </a:pPr>
            <a:r>
              <a:rPr sz="1875" b="0">
                <a:solidFill>
                  <a:srgbClr val="202124"/>
                </a:solidFill>
                <a:latin typeface="Arial"/>
                <a:ea typeface="Arial"/>
                <a:cs typeface="Arial"/>
              </a:rPr>
              <a:t>Internal changes can stay private. External distribution triggers obligations for MPL-covered code.</a:t>
            </a:r>
          </a:p>
        </p:txBody>
      </p:sp>
      <p:sp>
        <p:nvSpPr>
          <p:cNvPr id="7" name="reliable heading">
            <a:extLst xmlns:a="http://schemas.openxmlformats.org/drawingml/2006/main">
              <a:ext uri="{FF2B5EF4-FFF2-40B4-BE49-F238E27FC236}">
                <a16:creationId xmlns:a16="http://schemas.microsoft.com/office/drawing/2014/main" id="{01068A88-8539-4BA8-BCF4-D629EDE09554}"/>
              </a:ext>
            </a:extLst>
          </p:cNvPr>
          <p:cNvSpPr>
            <a:spLocks xmlns:a="http://schemas.openxmlformats.org/drawingml/2006/main" noGrp="1"/>
          </p:cNvSpPr>
          <p:nvPr/>
        </p:nvSpPr>
        <p:spPr>
          <a:xfrm xmlns:a="http://schemas.openxmlformats.org/drawingml/2006/main">
            <a:off x="666750" y="3705225"/>
            <a:ext cx="49244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Is it already proven reliable for us?</a:t>
            </a:r>
          </a:p>
        </p:txBody>
      </p:sp>
      <p:sp>
        <p:nvSpPr>
          <p:cNvPr id="8" name="reliable body">
            <a:extLst xmlns:a="http://schemas.openxmlformats.org/drawingml/2006/main">
              <a:ext uri="{FF2B5EF4-FFF2-40B4-BE49-F238E27FC236}">
                <a16:creationId xmlns:a16="http://schemas.microsoft.com/office/drawing/2014/main" id="{4B3E0B5A-DAE3-49DE-8185-7D801B93340A}"/>
              </a:ext>
            </a:extLst>
          </p:cNvPr>
          <p:cNvSpPr>
            <a:spLocks xmlns:a="http://schemas.openxmlformats.org/drawingml/2006/main" noGrp="1"/>
          </p:cNvSpPr>
          <p:nvPr/>
        </p:nvSpPr>
        <p:spPr>
          <a:xfrm xmlns:a="http://schemas.openxmlformats.org/drawingml/2006/main">
            <a:off x="666750" y="4191000"/>
            <a:ext cx="49244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02124"/>
                </a:solidFill>
                <a:latin typeface="Arial"/>
                <a:ea typeface="Arial"/>
                <a:cs typeface="Arial"/>
              </a:defRPr>
            </a:pPr>
            <a:r>
              <a:rPr sz="1875" b="0">
                <a:solidFill>
                  <a:srgbClr val="202124"/>
                </a:solidFill>
                <a:latin typeface="Arial"/>
                <a:ea typeface="Arial"/>
                <a:cs typeface="Arial"/>
              </a:rPr>
              <a:t>No company-scale result yet. The pilot should establish our event capacity and recovery needs.</a:t>
            </a:r>
          </a:p>
        </p:txBody>
      </p:sp>
      <p:sp>
        <p:nvSpPr>
          <p:cNvPr id="9" name="brand heading">
            <a:extLst xmlns:a="http://schemas.openxmlformats.org/drawingml/2006/main">
              <a:ext uri="{FF2B5EF4-FFF2-40B4-BE49-F238E27FC236}">
                <a16:creationId xmlns:a16="http://schemas.microsoft.com/office/drawing/2014/main" id="{46E71111-94A0-431E-B25D-0A0D9657E843}"/>
              </a:ext>
            </a:extLst>
          </p:cNvPr>
          <p:cNvSpPr>
            <a:spLocks xmlns:a="http://schemas.openxmlformats.org/drawingml/2006/main" noGrp="1"/>
          </p:cNvSpPr>
          <p:nvPr/>
        </p:nvSpPr>
        <p:spPr>
          <a:xfrm xmlns:a="http://schemas.openxmlformats.org/drawingml/2006/main">
            <a:off x="6419850" y="3705225"/>
            <a:ext cx="49244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E20074"/>
                </a:solidFill>
                <a:latin typeface="Arial"/>
                <a:ea typeface="Arial"/>
                <a:cs typeface="Arial"/>
              </a:defRPr>
            </a:pPr>
            <a:r>
              <a:rPr sz="2250" b="1">
                <a:solidFill>
                  <a:srgbClr val="E20074"/>
                </a:solidFill>
                <a:latin typeface="Arial"/>
                <a:ea typeface="Arial"/>
                <a:cs typeface="Arial"/>
              </a:rPr>
              <a:t>How much work is the branding?</a:t>
            </a:r>
          </a:p>
        </p:txBody>
      </p:sp>
      <p:sp>
        <p:nvSpPr>
          <p:cNvPr id="10" name="brand body">
            <a:extLst xmlns:a="http://schemas.openxmlformats.org/drawingml/2006/main">
              <a:ext uri="{FF2B5EF4-FFF2-40B4-BE49-F238E27FC236}">
                <a16:creationId xmlns:a16="http://schemas.microsoft.com/office/drawing/2014/main" id="{04477B35-271B-4CC2-AF81-267A61AE3691}"/>
              </a:ext>
            </a:extLst>
          </p:cNvPr>
          <p:cNvSpPr>
            <a:spLocks xmlns:a="http://schemas.openxmlformats.org/drawingml/2006/main" noGrp="1"/>
          </p:cNvSpPr>
          <p:nvPr/>
        </p:nvSpPr>
        <p:spPr>
          <a:xfrm xmlns:a="http://schemas.openxmlformats.org/drawingml/2006/main">
            <a:off x="6419850" y="4191000"/>
            <a:ext cx="49244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02124"/>
                </a:solidFill>
                <a:latin typeface="Arial"/>
                <a:ea typeface="Arial"/>
                <a:cs typeface="Arial"/>
              </a:defRPr>
            </a:pPr>
            <a:r>
              <a:rPr sz="1875" b="0">
                <a:solidFill>
                  <a:srgbClr val="202124"/>
                </a:solidFill>
                <a:latin typeface="Arial"/>
                <a:ea typeface="Arial"/>
                <a:cs typeface="Arial"/>
              </a:rPr>
              <a:t>A basic recolor is relatively small. Consistent branding across all screens requires review.</a:t>
            </a:r>
          </a:p>
        </p:txBody>
      </p:sp>
    </p:spTree>
    <p:extLst>
      <p:ext uri="{BB962C8B-B14F-4D97-AF65-F5344CB8AC3E}">
        <p14:creationId xmlns:p14="http://schemas.microsoft.com/office/powerpoint/2010/main" val="89694831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14E03AB-DDF3-4773-87FB-1DB1CF9D2A9A}"/>
              </a:ext>
            </a:extLst>
          </p:cNvPr>
          <p:cNvSpPr>
            <a:spLocks xmlns:a="http://schemas.openxmlformats.org/drawingml/2006/main" noGrp="1"/>
          </p:cNvSpPr>
          <p:nvPr/>
        </p:nvSpPr>
        <p:spPr>
          <a:xfrm xmlns:a="http://schemas.openxmlformats.org/drawingml/2006/main">
            <a:off x="666750" y="4953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02124"/>
                </a:solidFill>
                <a:latin typeface="Arial"/>
                <a:ea typeface="Arial"/>
                <a:cs typeface="Arial"/>
              </a:defRPr>
            </a:pPr>
            <a:r>
              <a:rPr sz="3450" b="1">
                <a:solidFill>
                  <a:srgbClr val="202124"/>
                </a:solidFill>
                <a:latin typeface="Arial"/>
                <a:ea typeface="Arial"/>
                <a:cs typeface="Arial"/>
              </a:rPr>
              <a:t>Appendix: company deployment checklist</a:t>
            </a:r>
          </a:p>
        </p:txBody>
      </p:sp>
      <p:sp>
        <p:nvSpPr>
          <p:cNvPr id="2" name="page">
            <a:extLst xmlns:a="http://schemas.openxmlformats.org/drawingml/2006/main">
              <a:ext uri="{FF2B5EF4-FFF2-40B4-BE49-F238E27FC236}">
                <a16:creationId xmlns:a16="http://schemas.microsoft.com/office/drawing/2014/main" id="{F89AEA46-09A6-4360-8C6A-C2862CC66B93}"/>
              </a:ext>
            </a:extLst>
          </p:cNvPr>
          <p:cNvSpPr>
            <a:spLocks xmlns:a="http://schemas.openxmlformats.org/drawingml/2006/main" noGrp="1"/>
          </p:cNvSpPr>
          <p:nvPr/>
        </p:nvSpPr>
        <p:spPr>
          <a:xfrm xmlns:a="http://schemas.openxmlformats.org/drawingml/2006/main">
            <a:off x="11144250" y="63150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C626B"/>
                </a:solidFill>
                <a:latin typeface="Arial"/>
                <a:ea typeface="Arial"/>
                <a:cs typeface="Arial"/>
              </a:defRPr>
            </a:pPr>
            <a:r>
              <a:rPr sz="1275" b="0">
                <a:solidFill>
                  <a:srgbClr val="5C626B"/>
                </a:solidFill>
                <a:latin typeface="Arial"/>
                <a:ea typeface="Arial"/>
                <a:cs typeface="Arial"/>
              </a:rPr>
              <a:t>12</a:t>
            </a:r>
          </a:p>
        </p:txBody>
      </p:sp>
      <p:graphicFrame>
        <p:nvGraphicFramePr>
          <p:cNvPr id="7" name=""/>
          <p:cNvGraphicFramePr/>
          <p:nvPr/>
        </p:nvGraphicFramePr>
        <p:xfrm>
          <a:off xmlns:a="http://schemas.openxmlformats.org/drawingml/2006/main" x="666750" y="1619250"/>
          <a:ext xmlns:a="http://schemas.openxmlformats.org/drawingml/2006/main" cx="10858500" cy="4095750"/>
        </p:xfrm>
        <a:graphic xmlns:a="http://schemas.openxmlformats.org/drawingml/2006/main">
          <a:graphicData uri="http://schemas.openxmlformats.org/drawingml/2006/table">
            <a:tbl>
              <a:tblPr/>
              <a:tblGrid>
                <a:gridCol w="2809875"/>
                <a:gridCol w="8048625"/>
              </a:tblGrid>
              <a:tr h="682625">
                <a:tc>
                  <a:txBody>
                    <a:bodyPr lIns="133350" tIns="95250" rIns="133350" bIns="95250"/>
                    <a:lstStyle/>
                    <a:p>
                      <a:r>
                        <a:rPr sz="1800" b="1">
                          <a:solidFill>
                            <a:srgbClr val="FFFFFF"/>
                          </a:solidFill>
                          <a:latin typeface="Arial"/>
                          <a:ea typeface="Arial"/>
                          <a:cs typeface="Arial"/>
                        </a:rPr>
                        <a:t>Area</a:t>
                      </a:r>
                    </a:p>
                  </a:txBody>
                  <a:tcPr marL="91440" marR="91440" marT="45720" marB="45720" anchor="ctr">
                    <a:solidFill>
                      <a:srgbClr val="202124"/>
                    </a:solidFill>
                  </a:tcPr>
                </a:tc>
                <a:tc>
                  <a:txBody>
                    <a:bodyPr lIns="133350" tIns="95250" rIns="133350" bIns="95250"/>
                    <a:lstStyle/>
                    <a:p>
                      <a:r>
                        <a:rPr sz="1800" b="1">
                          <a:solidFill>
                            <a:srgbClr val="FFFFFF"/>
                          </a:solidFill>
                          <a:latin typeface="Arial"/>
                          <a:ea typeface="Arial"/>
                          <a:cs typeface="Arial"/>
                        </a:rPr>
                        <a:t>What the company team needs to provide</a:t>
                      </a:r>
                    </a:p>
                  </a:txBody>
                  <a:tcPr marL="91440" marR="91440" marT="45720" marB="45720" anchor="ctr">
                    <a:solidFill>
                      <a:srgbClr val="202124"/>
                    </a:solidFill>
                  </a:tcPr>
                </a:tc>
              </a:tr>
              <a:tr h="682625">
                <a:tc>
                  <a:txBody>
                    <a:bodyPr lIns="133350" tIns="95250" rIns="133350" bIns="95250"/>
                    <a:lstStyle/>
                    <a:p>
                      <a:r>
                        <a:rPr sz="1800" b="1">
                          <a:solidFill>
                            <a:srgbClr val="202124"/>
                          </a:solidFill>
                          <a:latin typeface="Arial"/>
                          <a:ea typeface="Arial"/>
                          <a:cs typeface="Arial"/>
                        </a:rPr>
                        <a:t>Hosting and network</a:t>
                      </a:r>
                    </a:p>
                  </a:txBody>
                  <a:tcPr marL="91440" marR="91440" marT="45720" marB="45720" anchor="ctr">
                    <a:solidFill>
                      <a:srgbClr val="F3F3F5"/>
                    </a:solidFill>
                  </a:tcPr>
                </a:tc>
                <a:tc>
                  <a:txBody>
                    <a:bodyPr lIns="133350" tIns="95250" rIns="133350" bIns="95250"/>
                    <a:lstStyle/>
                    <a:p>
                      <a:r>
                        <a:rPr sz="1800" b="0">
                          <a:solidFill>
                            <a:srgbClr val="202124"/>
                          </a:solidFill>
                          <a:latin typeface="Arial"/>
                          <a:ea typeface="Arial"/>
                          <a:cs typeface="Arial"/>
                        </a:rPr>
                        <a:t>Approved VM or container platform, DNS, TLS/HTTPS,</a:t>
                      </a:r>
                    </a:p>
                    <a:p>
                      <a:r>
                        <a:rPr sz="1800" b="0">
                          <a:solidFill>
                            <a:srgbClr val="202124"/>
                          </a:solidFill>
                          <a:latin typeface="Arial"/>
                          <a:ea typeface="Arial"/>
                          <a:cs typeface="Arial"/>
                        </a:rPr>
                        <a:t>reverse proxy with WebSocket support and network rules</a:t>
                      </a:r>
                    </a:p>
                  </a:txBody>
                  <a:tcPr marL="91440" marR="91440" marT="45720" marB="45720" anchor="ctr">
                    <a:solidFill>
                      <a:srgbClr val="F3F3F5"/>
                    </a:solidFill>
                  </a:tcPr>
                </a:tc>
              </a:tr>
              <a:tr h="682625">
                <a:tc>
                  <a:txBody>
                    <a:bodyPr lIns="133350" tIns="95250" rIns="133350" bIns="95250"/>
                    <a:lstStyle/>
                    <a:p>
                      <a:r>
                        <a:rPr sz="1800" b="1">
                          <a:solidFill>
                            <a:srgbClr val="202124"/>
                          </a:solidFill>
                          <a:latin typeface="Arial"/>
                          <a:ea typeface="Arial"/>
                          <a:cs typeface="Arial"/>
                        </a:rPr>
                        <a:t>Application and data</a:t>
                      </a:r>
                    </a:p>
                  </a:txBody>
                  <a:tcPr marL="91440" marR="91440" marT="45720" marB="45720" anchor="ctr">
                    <a:solidFill>
                      <a:srgbClr val="FFFFFF"/>
                    </a:solidFill>
                  </a:tcPr>
                </a:tc>
                <a:tc>
                  <a:txBody>
                    <a:bodyPr lIns="133350" tIns="95250" rIns="133350" bIns="95250"/>
                    <a:lstStyle/>
                    <a:p>
                      <a:r>
                        <a:rPr sz="1800" b="0">
                          <a:solidFill>
                            <a:srgbClr val="202124"/>
                          </a:solidFill>
                          <a:latin typeface="Arial"/>
                          <a:ea typeface="Arial"/>
                          <a:cs typeface="Arial"/>
                        </a:rPr>
                        <a:t>Frontend, API and worker, PostgreSQL, Valkey, Meilisearch,</a:t>
                      </a:r>
                    </a:p>
                    <a:p>
                      <a:r>
                        <a:rPr sz="1800" b="0">
                          <a:solidFill>
                            <a:srgbClr val="202124"/>
                          </a:solidFill>
                          <a:latin typeface="Arial"/>
                          <a:ea typeface="Arial"/>
                          <a:cs typeface="Arial"/>
                        </a:rPr>
                        <a:t>persistent data and S3-compatible storage with a bucket</a:t>
                      </a:r>
                    </a:p>
                  </a:txBody>
                  <a:tcPr marL="91440" marR="91440" marT="45720" marB="45720" anchor="ctr">
                    <a:solidFill>
                      <a:srgbClr val="FFFFFF"/>
                    </a:solidFill>
                  </a:tcPr>
                </a:tc>
              </a:tr>
              <a:tr h="682625">
                <a:tc>
                  <a:txBody>
                    <a:bodyPr lIns="133350" tIns="95250" rIns="133350" bIns="95250"/>
                    <a:lstStyle/>
                    <a:p>
                      <a:r>
                        <a:rPr sz="1800" b="1">
                          <a:solidFill>
                            <a:srgbClr val="202124"/>
                          </a:solidFill>
                          <a:latin typeface="Arial"/>
                          <a:ea typeface="Arial"/>
                          <a:cs typeface="Arial"/>
                        </a:rPr>
                        <a:t>Identity and email</a:t>
                      </a:r>
                    </a:p>
                  </a:txBody>
                  <a:tcPr marL="91440" marR="91440" marT="45720" marB="45720" anchor="ctr">
                    <a:solidFill>
                      <a:srgbClr val="F3F3F5"/>
                    </a:solidFill>
                  </a:tcPr>
                </a:tc>
                <a:tc>
                  <a:txBody>
                    <a:bodyPr lIns="133350" tIns="95250" rIns="133350" bIns="95250"/>
                    <a:lstStyle/>
                    <a:p>
                      <a:r>
                        <a:rPr sz="1800" b="0">
                          <a:solidFill>
                            <a:srgbClr val="202124"/>
                          </a:solidFill>
                          <a:latin typeface="Arial"/>
                          <a:ea typeface="Arial"/>
                          <a:cs typeface="Arial"/>
                        </a:rPr>
                        <a:t>Entra integration and access policy, MFA policy, secrets,</a:t>
                      </a:r>
                    </a:p>
                    <a:p>
                      <a:r>
                        <a:rPr sz="1800" b="0">
                          <a:solidFill>
                            <a:srgbClr val="202124"/>
                          </a:solidFill>
                          <a:latin typeface="Arial"/>
                          <a:ea typeface="Arial"/>
                          <a:cs typeface="Arial"/>
                        </a:rPr>
                        <a:t>SMTP/sender setup if verification or password reset is used</a:t>
                      </a:r>
                    </a:p>
                  </a:txBody>
                  <a:tcPr marL="91440" marR="91440" marT="45720" marB="45720" anchor="ctr">
                    <a:solidFill>
                      <a:srgbClr val="F3F3F5"/>
                    </a:solidFill>
                  </a:tcPr>
                </a:tc>
              </a:tr>
              <a:tr h="682625">
                <a:tc>
                  <a:txBody>
                    <a:bodyPr lIns="133350" tIns="95250" rIns="133350" bIns="95250"/>
                    <a:lstStyle/>
                    <a:p>
                      <a:r>
                        <a:rPr sz="1800" b="1">
                          <a:solidFill>
                            <a:srgbClr val="202124"/>
                          </a:solidFill>
                          <a:latin typeface="Arial"/>
                          <a:ea typeface="Arial"/>
                          <a:cs typeface="Arial"/>
                        </a:rPr>
                        <a:t>Operations</a:t>
                      </a:r>
                    </a:p>
                  </a:txBody>
                  <a:tcPr marL="91440" marR="91440" marT="45720" marB="45720" anchor="ctr">
                    <a:solidFill>
                      <a:srgbClr val="FFFFFF"/>
                    </a:solidFill>
                  </a:tcPr>
                </a:tc>
                <a:tc>
                  <a:txBody>
                    <a:bodyPr lIns="133350" tIns="95250" rIns="133350" bIns="95250"/>
                    <a:lstStyle/>
                    <a:p>
                      <a:r>
                        <a:rPr sz="1800" b="0">
                          <a:solidFill>
                            <a:srgbClr val="202124"/>
                          </a:solidFill>
                          <a:latin typeface="Arial"/>
                          <a:ea typeface="Arial"/>
                          <a:cs typeface="Arial"/>
                        </a:rPr>
                        <a:t>Backups and restore tests, monitoring/logs, patching,</a:t>
                      </a:r>
                    </a:p>
                    <a:p>
                      <a:r>
                        <a:rPr sz="1800" b="0">
                          <a:solidFill>
                            <a:srgbClr val="202124"/>
                          </a:solidFill>
                          <a:latin typeface="Arial"/>
                          <a:ea typeface="Arial"/>
                          <a:cs typeface="Arial"/>
                        </a:rPr>
                        <a:t>release/rollback process and a named support owner</a:t>
                      </a:r>
                    </a:p>
                  </a:txBody>
                  <a:tcPr marL="91440" marR="91440" marT="45720" marB="45720" anchor="ctr">
                    <a:solidFill>
                      <a:srgbClr val="FFFFFF"/>
                    </a:solidFill>
                  </a:tcPr>
                </a:tc>
              </a:tr>
              <a:tr h="682625">
                <a:tc>
                  <a:txBody>
                    <a:bodyPr lIns="133350" tIns="95250" rIns="133350" bIns="95250"/>
                    <a:lstStyle/>
                    <a:p>
                      <a:r>
                        <a:rPr sz="1800" b="1">
                          <a:solidFill>
                            <a:srgbClr val="202124"/>
                          </a:solidFill>
                          <a:latin typeface="Arial"/>
                          <a:ea typeface="Arial"/>
                          <a:cs typeface="Arial"/>
                        </a:rPr>
                        <a:t>Company acceptance</a:t>
                      </a:r>
                    </a:p>
                  </a:txBody>
                  <a:tcPr marL="91440" marR="91440" marT="45720" marB="45720" anchor="ctr">
                    <a:solidFill>
                      <a:srgbClr val="F3F3F5"/>
                    </a:solidFill>
                  </a:tcPr>
                </a:tc>
                <a:tc>
                  <a:txBody>
                    <a:bodyPr lIns="133350" tIns="95250" rIns="133350" bIns="95250"/>
                    <a:lstStyle/>
                    <a:p>
                      <a:r>
                        <a:rPr sz="1800" b="0">
                          <a:solidFill>
                            <a:srgbClr val="202124"/>
                          </a:solidFill>
                          <a:latin typeface="Arial"/>
                          <a:ea typeface="Arial"/>
                          <a:cs typeface="Arial"/>
                        </a:rPr>
                        <a:t>Privacy/retention and open-source review, brand checks,</a:t>
                      </a:r>
                    </a:p>
                    <a:p>
                      <a:r>
                        <a:rPr sz="1800" b="0">
                          <a:solidFill>
                            <a:srgbClr val="202124"/>
                          </a:solidFill>
                          <a:latin typeface="Arial"/>
                          <a:ea typeface="Arial"/>
                          <a:cs typeface="Arial"/>
                        </a:rPr>
                        <a:t>realistic event capacity, reconnect and recovery testing</a:t>
                      </a:r>
                    </a:p>
                  </a:txBody>
                  <a:tcPr marL="91440" marR="91440" marT="45720" marB="45720" anchor="ctr">
                    <a:solidFill>
                      <a:srgbClr val="F3F3F5"/>
                    </a:solidFill>
                  </a:tcPr>
                </a:tc>
              </a:tr>
            </a:tbl>
          </a:graphicData>
        </a:graphic>
      </p:graphicFrame>
      <p:sp>
        <p:nvSpPr>
          <p:cNvPr id="4" name="optional integrations">
            <a:extLst xmlns:a="http://schemas.openxmlformats.org/drawingml/2006/main">
              <a:ext uri="{FF2B5EF4-FFF2-40B4-BE49-F238E27FC236}">
                <a16:creationId xmlns:a16="http://schemas.microsoft.com/office/drawing/2014/main" id="{A1941571-9F1C-44C3-BA4E-D4C6409A9BEF}"/>
              </a:ext>
            </a:extLst>
          </p:cNvPr>
          <p:cNvSpPr>
            <a:spLocks xmlns:a="http://schemas.openxmlformats.org/drawingml/2006/main" noGrp="1"/>
          </p:cNvSpPr>
          <p:nvPr/>
        </p:nvSpPr>
        <p:spPr>
          <a:xfrm xmlns:a="http://schemas.openxmlformats.org/drawingml/2006/main">
            <a:off x="666750" y="5953125"/>
            <a:ext cx="1038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C626B"/>
                </a:solidFill>
                <a:latin typeface="Arial"/>
                <a:ea typeface="Arial"/>
                <a:cs typeface="Arial"/>
              </a:defRPr>
            </a:pPr>
            <a:r>
              <a:rPr sz="1725" b="0">
                <a:solidFill>
                  <a:srgbClr val="5C626B"/>
                </a:solidFill>
                <a:latin typeface="Arial"/>
                <a:ea typeface="Arial"/>
                <a:cs typeface="Arial"/>
              </a:rPr>
              <a:t>IT selects optional external integrations and verifies supported service versions.</a:t>
            </a:r>
          </a:p>
        </p:txBody>
      </p:sp>
    </p:spTree>
    <p:extLst>
      <p:ext uri="{BB962C8B-B14F-4D97-AF65-F5344CB8AC3E}">
        <p14:creationId xmlns:p14="http://schemas.microsoft.com/office/powerpoint/2010/main" val="17898789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2026-09-29T17:45:43.2200000Z</dcterms:created>
  <dcterms:modified xsi:type="dcterms:W3CDTF">2026-09-29T17:45:43.2200000Z</dcterms:modified>
</coreProperties>
</file>